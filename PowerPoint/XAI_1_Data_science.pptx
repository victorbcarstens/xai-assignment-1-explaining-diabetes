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" dt="2026-10-19T12:40:08.267"/>
    <p1510:client id="{B842DE80-D75C-9A0E-5AD9-3FDEF16D86CA}" v="71" dt="2026-10-19T13:11:07.902"/>
    <p1510:client id="{FBB2C67E-A0C9-4614-BE25-2A902BA416AB}" v="35" dt="2026-10-19T13:00:27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24" autoAdjust="0"/>
  </p:normalViewPr>
  <p:slideViewPr>
    <p:cSldViewPr snapToGrid="0">
      <p:cViewPr varScale="1">
        <p:scale>
          <a:sx n="52" d="100"/>
          <a:sy n="52" d="100"/>
        </p:scale>
        <p:origin x="83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mus Helvig Larsen" userId="S::s256261@dtu.dk::601d9455-023a-45d2-9a5d-7c3abe0452c3" providerId="AD" clId="Web-{00000000-0000-0000-0000-000000000000}"/>
    <pc:docChg chg="modSld">
      <pc:chgData name="Rasmus Helvig Larsen" userId="S::s256261@dtu.dk::601d9455-023a-45d2-9a5d-7c3abe0452c3" providerId="AD" clId="Web-{00000000-0000-0000-0000-000000000000}" dt="2026-10-19T12:40:08.252" v="8" actId="20577"/>
      <pc:docMkLst>
        <pc:docMk/>
      </pc:docMkLst>
      <pc:sldChg chg="modSp">
        <pc:chgData name="Rasmus Helvig Larsen" userId="S::s256261@dtu.dk::601d9455-023a-45d2-9a5d-7c3abe0452c3" providerId="AD" clId="Web-{00000000-0000-0000-0000-000000000000}" dt="2026-10-19T12:40:08.252" v="8" actId="20577"/>
        <pc:sldMkLst>
          <pc:docMk/>
          <pc:sldMk cId="237974480" sldId="261"/>
        </pc:sldMkLst>
        <pc:spChg chg="mod">
          <ac:chgData name="Rasmus Helvig Larsen" userId="S::s256261@dtu.dk::601d9455-023a-45d2-9a5d-7c3abe0452c3" providerId="AD" clId="Web-{00000000-0000-0000-0000-000000000000}" dt="2026-10-19T12:40:08.252" v="8" actId="20577"/>
          <ac:spMkLst>
            <pc:docMk/>
            <pc:sldMk cId="237974480" sldId="261"/>
            <ac:spMk id="7" creationId="{3BC77217-9117-4616-96AF-A49E121140A2}"/>
          </ac:spMkLst>
        </pc:spChg>
      </pc:sldChg>
    </pc:docChg>
  </pc:docChgLst>
  <pc:docChgLst>
    <pc:chgData name="Victor Birkefeldt Carstens" userId="S::s256191@dtu.dk::1ee44ff6-02af-40b0-887d-3566f46ee20c" providerId="AD" clId="Web-{B842DE80-D75C-9A0E-5AD9-3FDEF16D86CA}"/>
    <pc:docChg chg="modSld">
      <pc:chgData name="Victor Birkefeldt Carstens" userId="S::s256191@dtu.dk::1ee44ff6-02af-40b0-887d-3566f46ee20c" providerId="AD" clId="Web-{B842DE80-D75C-9A0E-5AD9-3FDEF16D86CA}" dt="2026-10-19T13:09:17.136" v="114"/>
      <pc:docMkLst>
        <pc:docMk/>
      </pc:docMkLst>
      <pc:sldChg chg="modNotes">
        <pc:chgData name="Victor Birkefeldt Carstens" userId="S::s256191@dtu.dk::1ee44ff6-02af-40b0-887d-3566f46ee20c" providerId="AD" clId="Web-{B842DE80-D75C-9A0E-5AD9-3FDEF16D86CA}" dt="2026-10-19T13:08:23.125" v="66"/>
        <pc:sldMkLst>
          <pc:docMk/>
          <pc:sldMk cId="1073468941" sldId="256"/>
        </pc:sldMkLst>
      </pc:sldChg>
      <pc:sldChg chg="delSp modSp modNotes">
        <pc:chgData name="Victor Birkefeldt Carstens" userId="S::s256191@dtu.dk::1ee44ff6-02af-40b0-887d-3566f46ee20c" providerId="AD" clId="Web-{B842DE80-D75C-9A0E-5AD9-3FDEF16D86CA}" dt="2026-10-19T13:08:28.283" v="70"/>
        <pc:sldMkLst>
          <pc:docMk/>
          <pc:sldMk cId="1280429120" sldId="257"/>
        </pc:sldMkLst>
        <pc:spChg chg="del">
          <ac:chgData name="Victor Birkefeldt Carstens" userId="S::s256191@dtu.dk::1ee44ff6-02af-40b0-887d-3566f46ee20c" providerId="AD" clId="Web-{B842DE80-D75C-9A0E-5AD9-3FDEF16D86CA}" dt="2026-10-19T12:29:24.781" v="1"/>
          <ac:spMkLst>
            <pc:docMk/>
            <pc:sldMk cId="1280429120" sldId="257"/>
            <ac:spMk id="6" creationId="{3CF943A1-E29C-4CD5-8504-4F35F4B81C69}"/>
          </ac:spMkLst>
        </pc:spChg>
        <pc:spChg chg="del mod">
          <ac:chgData name="Victor Birkefeldt Carstens" userId="S::s256191@dtu.dk::1ee44ff6-02af-40b0-887d-3566f46ee20c" providerId="AD" clId="Web-{B842DE80-D75C-9A0E-5AD9-3FDEF16D86CA}" dt="2026-10-19T12:29:35.250" v="3"/>
          <ac:spMkLst>
            <pc:docMk/>
            <pc:sldMk cId="1280429120" sldId="257"/>
            <ac:spMk id="7" creationId="{74946D11-8350-406A-B573-1AFEB76FB594}"/>
          </ac:spMkLst>
        </pc:spChg>
      </pc:sldChg>
      <pc:sldChg chg="modSp modNotes">
        <pc:chgData name="Victor Birkefeldt Carstens" userId="S::s256191@dtu.dk::1ee44ff6-02af-40b0-887d-3566f46ee20c" providerId="AD" clId="Web-{B842DE80-D75C-9A0E-5AD9-3FDEF16D86CA}" dt="2026-10-19T13:08:33.112" v="74"/>
        <pc:sldMkLst>
          <pc:docMk/>
          <pc:sldMk cId="1275399550" sldId="258"/>
        </pc:sldMkLst>
        <pc:spChg chg="mod">
          <ac:chgData name="Victor Birkefeldt Carstens" userId="S::s256191@dtu.dk::1ee44ff6-02af-40b0-887d-3566f46ee20c" providerId="AD" clId="Web-{B842DE80-D75C-9A0E-5AD9-3FDEF16D86CA}" dt="2026-10-19T12:31:20.205" v="4" actId="1076"/>
          <ac:spMkLst>
            <pc:docMk/>
            <pc:sldMk cId="1275399550" sldId="258"/>
            <ac:spMk id="5" creationId="{CE7B8E55-6C29-4221-B07C-2FCF478101AC}"/>
          </ac:spMkLst>
        </pc:spChg>
        <pc:spChg chg="mod">
          <ac:chgData name="Victor Birkefeldt Carstens" userId="S::s256191@dtu.dk::1ee44ff6-02af-40b0-887d-3566f46ee20c" providerId="AD" clId="Web-{B842DE80-D75C-9A0E-5AD9-3FDEF16D86CA}" dt="2026-10-19T12:31:25.439" v="5" actId="1076"/>
          <ac:spMkLst>
            <pc:docMk/>
            <pc:sldMk cId="1275399550" sldId="258"/>
            <ac:spMk id="6" creationId="{ED20EEC1-0226-4A13-9D4C-7E2674E5FB9B}"/>
          </ac:spMkLst>
        </pc:spChg>
        <pc:spChg chg="mod">
          <ac:chgData name="Victor Birkefeldt Carstens" userId="S::s256191@dtu.dk::1ee44ff6-02af-40b0-887d-3566f46ee20c" providerId="AD" clId="Web-{B842DE80-D75C-9A0E-5AD9-3FDEF16D86CA}" dt="2026-10-19T12:31:46.845" v="11" actId="20577"/>
          <ac:spMkLst>
            <pc:docMk/>
            <pc:sldMk cId="1275399550" sldId="258"/>
            <ac:spMk id="9" creationId="{6B2F5017-8D3C-4F86-8970-31345E0087A5}"/>
          </ac:spMkLst>
        </pc:spChg>
        <pc:graphicFrameChg chg="mod">
          <ac:chgData name="Victor Birkefeldt Carstens" userId="S::s256191@dtu.dk::1ee44ff6-02af-40b0-887d-3566f46ee20c" providerId="AD" clId="Web-{B842DE80-D75C-9A0E-5AD9-3FDEF16D86CA}" dt="2026-10-19T12:31:29.205" v="6" actId="1076"/>
          <ac:graphicFrameMkLst>
            <pc:docMk/>
            <pc:sldMk cId="1275399550" sldId="258"/>
            <ac:graphicFrameMk id="8" creationId="{45F142F6-AFE3-47EF-A775-A6730137E6A1}"/>
          </ac:graphicFrameMkLst>
        </pc:graphicFrameChg>
        <pc:picChg chg="mod">
          <ac:chgData name="Victor Birkefeldt Carstens" userId="S::s256191@dtu.dk::1ee44ff6-02af-40b0-887d-3566f46ee20c" providerId="AD" clId="Web-{B842DE80-D75C-9A0E-5AD9-3FDEF16D86CA}" dt="2026-10-19T12:31:33.798" v="7" actId="1076"/>
          <ac:picMkLst>
            <pc:docMk/>
            <pc:sldMk cId="1275399550" sldId="258"/>
            <ac:picMk id="7" creationId="{3B554333-2820-4E2A-8ACE-F7ECEB02A300}"/>
          </ac:picMkLst>
        </pc:picChg>
      </pc:sldChg>
      <pc:sldChg chg="modNotes">
        <pc:chgData name="Victor Birkefeldt Carstens" userId="S::s256191@dtu.dk::1ee44ff6-02af-40b0-887d-3566f46ee20c" providerId="AD" clId="Web-{B842DE80-D75C-9A0E-5AD9-3FDEF16D86CA}" dt="2026-10-19T13:08:37.207" v="78"/>
        <pc:sldMkLst>
          <pc:docMk/>
          <pc:sldMk cId="2137231613" sldId="259"/>
        </pc:sldMkLst>
      </pc:sldChg>
      <pc:sldChg chg="modSp modNotes">
        <pc:chgData name="Victor Birkefeldt Carstens" userId="S::s256191@dtu.dk::1ee44ff6-02af-40b0-887d-3566f46ee20c" providerId="AD" clId="Web-{B842DE80-D75C-9A0E-5AD9-3FDEF16D86CA}" dt="2026-10-19T13:08:42.270" v="82"/>
        <pc:sldMkLst>
          <pc:docMk/>
          <pc:sldMk cId="427188819" sldId="260"/>
        </pc:sldMkLst>
        <pc:spChg chg="mod">
          <ac:chgData name="Victor Birkefeldt Carstens" userId="S::s256191@dtu.dk::1ee44ff6-02af-40b0-887d-3566f46ee20c" providerId="AD" clId="Web-{B842DE80-D75C-9A0E-5AD9-3FDEF16D86CA}" dt="2026-10-19T12:34:39.004" v="15" actId="1076"/>
          <ac:spMkLst>
            <pc:docMk/>
            <pc:sldMk cId="427188819" sldId="260"/>
            <ac:spMk id="2" creationId="{664FFF14-C3E8-4534-BD92-395D9B23360B}"/>
          </ac:spMkLst>
        </pc:spChg>
        <pc:picChg chg="mod">
          <ac:chgData name="Victor Birkefeldt Carstens" userId="S::s256191@dtu.dk::1ee44ff6-02af-40b0-887d-3566f46ee20c" providerId="AD" clId="Web-{B842DE80-D75C-9A0E-5AD9-3FDEF16D86CA}" dt="2026-10-19T12:34:16.578" v="12" actId="14100"/>
          <ac:picMkLst>
            <pc:docMk/>
            <pc:sldMk cId="427188819" sldId="260"/>
            <ac:picMk id="5" creationId="{30FAD811-6420-41C6-8CA3-7131D3B512B6}"/>
          </ac:picMkLst>
        </pc:picChg>
        <pc:picChg chg="mod">
          <ac:chgData name="Victor Birkefeldt Carstens" userId="S::s256191@dtu.dk::1ee44ff6-02af-40b0-887d-3566f46ee20c" providerId="AD" clId="Web-{B842DE80-D75C-9A0E-5AD9-3FDEF16D86CA}" dt="2026-10-19T12:34:29.206" v="14" actId="1076"/>
          <ac:picMkLst>
            <pc:docMk/>
            <pc:sldMk cId="427188819" sldId="260"/>
            <ac:picMk id="6" creationId="{7FAB9512-9477-40C9-90E7-99347EBF0968}"/>
          </ac:picMkLst>
        </pc:picChg>
      </pc:sldChg>
      <pc:sldChg chg="modNotes">
        <pc:chgData name="Victor Birkefeldt Carstens" userId="S::s256191@dtu.dk::1ee44ff6-02af-40b0-887d-3566f46ee20c" providerId="AD" clId="Web-{B842DE80-D75C-9A0E-5AD9-3FDEF16D86CA}" dt="2026-10-19T13:08:46.286" v="86"/>
        <pc:sldMkLst>
          <pc:docMk/>
          <pc:sldMk cId="237974480" sldId="261"/>
        </pc:sldMkLst>
      </pc:sldChg>
      <pc:sldChg chg="modNotes">
        <pc:chgData name="Victor Birkefeldt Carstens" userId="S::s256191@dtu.dk::1ee44ff6-02af-40b0-887d-3566f46ee20c" providerId="AD" clId="Web-{B842DE80-D75C-9A0E-5AD9-3FDEF16D86CA}" dt="2026-10-19T13:08:52.069" v="90"/>
        <pc:sldMkLst>
          <pc:docMk/>
          <pc:sldMk cId="1446986370" sldId="262"/>
        </pc:sldMkLst>
      </pc:sldChg>
      <pc:sldChg chg="addSp delSp modSp modNotes">
        <pc:chgData name="Victor Birkefeldt Carstens" userId="S::s256191@dtu.dk::1ee44ff6-02af-40b0-887d-3566f46ee20c" providerId="AD" clId="Web-{B842DE80-D75C-9A0E-5AD9-3FDEF16D86CA}" dt="2026-10-19T13:08:56.117" v="94"/>
        <pc:sldMkLst>
          <pc:docMk/>
          <pc:sldMk cId="1530399749" sldId="263"/>
        </pc:sldMkLst>
        <pc:spChg chg="mod">
          <ac:chgData name="Victor Birkefeldt Carstens" userId="S::s256191@dtu.dk::1ee44ff6-02af-40b0-887d-3566f46ee20c" providerId="AD" clId="Web-{B842DE80-D75C-9A0E-5AD9-3FDEF16D86CA}" dt="2026-10-19T12:59:51.667" v="62" actId="1076"/>
          <ac:spMkLst>
            <pc:docMk/>
            <pc:sldMk cId="1530399749" sldId="263"/>
            <ac:spMk id="2" creationId="{3897B628-DEDA-4ACE-B194-9DE0B57F80C8}"/>
          </ac:spMkLst>
        </pc:spChg>
        <pc:spChg chg="mod">
          <ac:chgData name="Victor Birkefeldt Carstens" userId="S::s256191@dtu.dk::1ee44ff6-02af-40b0-887d-3566f46ee20c" providerId="AD" clId="Web-{B842DE80-D75C-9A0E-5AD9-3FDEF16D86CA}" dt="2026-10-19T12:59:17.822" v="60" actId="20577"/>
          <ac:spMkLst>
            <pc:docMk/>
            <pc:sldMk cId="1530399749" sldId="263"/>
            <ac:spMk id="8" creationId="{B6D9D9A4-2EAB-4E61-A8A9-BF04AC5DD1CF}"/>
          </ac:spMkLst>
        </pc:spChg>
        <pc:spChg chg="mod">
          <ac:chgData name="Victor Birkefeldt Carstens" userId="S::s256191@dtu.dk::1ee44ff6-02af-40b0-887d-3566f46ee20c" providerId="AD" clId="Web-{B842DE80-D75C-9A0E-5AD9-3FDEF16D86CA}" dt="2026-10-19T12:42:49.393" v="52" actId="20577"/>
          <ac:spMkLst>
            <pc:docMk/>
            <pc:sldMk cId="1530399749" sldId="263"/>
            <ac:spMk id="9" creationId="{C9D5E3B0-36E9-495A-886C-A732D525A577}"/>
          </ac:spMkLst>
        </pc:spChg>
        <pc:graphicFrameChg chg="add del mod">
          <ac:chgData name="Victor Birkefeldt Carstens" userId="S::s256191@dtu.dk::1ee44ff6-02af-40b0-887d-3566f46ee20c" providerId="AD" clId="Web-{B842DE80-D75C-9A0E-5AD9-3FDEF16D86CA}" dt="2026-10-19T12:42:07.251" v="18"/>
          <ac:graphicFrameMkLst>
            <pc:docMk/>
            <pc:sldMk cId="1530399749" sldId="263"/>
            <ac:graphicFrameMk id="13" creationId="{B03797A5-A87D-E6AF-07B9-D45C57F37EBC}"/>
          </ac:graphicFrameMkLst>
        </pc:graphicFrameChg>
        <pc:graphicFrameChg chg="add mod modGraphic">
          <ac:chgData name="Victor Birkefeldt Carstens" userId="S::s256191@dtu.dk::1ee44ff6-02af-40b0-887d-3566f46ee20c" providerId="AD" clId="Web-{B842DE80-D75C-9A0E-5AD9-3FDEF16D86CA}" dt="2026-10-19T12:42:27.080" v="29"/>
          <ac:graphicFrameMkLst>
            <pc:docMk/>
            <pc:sldMk cId="1530399749" sldId="263"/>
            <ac:graphicFrameMk id="15" creationId="{AC2CE1AE-59C8-7FDD-8288-0213F8FF83D7}"/>
          </ac:graphicFrameMkLst>
        </pc:graphicFrameChg>
        <pc:graphicFrameChg chg="add del mod">
          <ac:chgData name="Victor Birkefeldt Carstens" userId="S::s256191@dtu.dk::1ee44ff6-02af-40b0-887d-3566f46ee20c" providerId="AD" clId="Web-{B842DE80-D75C-9A0E-5AD9-3FDEF16D86CA}" dt="2026-10-19T12:42:30.752" v="33"/>
          <ac:graphicFrameMkLst>
            <pc:docMk/>
            <pc:sldMk cId="1530399749" sldId="263"/>
            <ac:graphicFrameMk id="17" creationId="{FF2FA42A-0897-356A-5CA8-1F975445E3DC}"/>
          </ac:graphicFrameMkLst>
        </pc:graphicFrameChg>
      </pc:sldChg>
      <pc:sldChg chg="modNotes">
        <pc:chgData name="Victor Birkefeldt Carstens" userId="S::s256191@dtu.dk::1ee44ff6-02af-40b0-887d-3566f46ee20c" providerId="AD" clId="Web-{B842DE80-D75C-9A0E-5AD9-3FDEF16D86CA}" dt="2026-10-19T13:09:00.696" v="98"/>
        <pc:sldMkLst>
          <pc:docMk/>
          <pc:sldMk cId="187786252" sldId="264"/>
        </pc:sldMkLst>
      </pc:sldChg>
      <pc:sldChg chg="modNotes">
        <pc:chgData name="Victor Birkefeldt Carstens" userId="S::s256191@dtu.dk::1ee44ff6-02af-40b0-887d-3566f46ee20c" providerId="AD" clId="Web-{B842DE80-D75C-9A0E-5AD9-3FDEF16D86CA}" dt="2026-10-19T13:09:07.463" v="102"/>
        <pc:sldMkLst>
          <pc:docMk/>
          <pc:sldMk cId="916067020" sldId="265"/>
        </pc:sldMkLst>
      </pc:sldChg>
      <pc:sldChg chg="mod modShow">
        <pc:chgData name="Victor Birkefeldt Carstens" userId="S::s256191@dtu.dk::1ee44ff6-02af-40b0-887d-3566f46ee20c" providerId="AD" clId="Web-{B842DE80-D75C-9A0E-5AD9-3FDEF16D86CA}" dt="2026-10-19T12:43:15.848" v="53"/>
        <pc:sldMkLst>
          <pc:docMk/>
          <pc:sldMk cId="1487794889" sldId="266"/>
        </pc:sldMkLst>
      </pc:sldChg>
      <pc:sldChg chg="modNotes">
        <pc:chgData name="Victor Birkefeldt Carstens" userId="S::s256191@dtu.dk::1ee44ff6-02af-40b0-887d-3566f46ee20c" providerId="AD" clId="Web-{B842DE80-D75C-9A0E-5AD9-3FDEF16D86CA}" dt="2026-10-19T13:09:13.448" v="110"/>
        <pc:sldMkLst>
          <pc:docMk/>
          <pc:sldMk cId="329131003" sldId="267"/>
        </pc:sldMkLst>
      </pc:sldChg>
      <pc:sldChg chg="modNotes">
        <pc:chgData name="Victor Birkefeldt Carstens" userId="S::s256191@dtu.dk::1ee44ff6-02af-40b0-887d-3566f46ee20c" providerId="AD" clId="Web-{B842DE80-D75C-9A0E-5AD9-3FDEF16D86CA}" dt="2026-10-19T13:09:17.136" v="114"/>
        <pc:sldMkLst>
          <pc:docMk/>
          <pc:sldMk cId="1001518560" sldId="268"/>
        </pc:sldMkLst>
      </pc:sldChg>
      <pc:sldChg chg="modNotes">
        <pc:chgData name="Victor Birkefeldt Carstens" userId="S::s256191@dtu.dk::1ee44ff6-02af-40b0-887d-3566f46ee20c" providerId="AD" clId="Web-{B842DE80-D75C-9A0E-5AD9-3FDEF16D86CA}" dt="2026-10-19T13:09:10.182" v="106"/>
        <pc:sldMkLst>
          <pc:docMk/>
          <pc:sldMk cId="1119873492" sldId="269"/>
        </pc:sldMkLst>
      </pc:sldChg>
    </pc:docChg>
  </pc:docChgLst>
  <pc:docChgLst>
    <pc:chgData name="Magnus Lau Ovesen" userId="418c1f3d-3806-4e0c-b4a3-27babb601aa5" providerId="ADAL" clId="{B2478266-A00C-426C-895A-CA5BB70D660D}"/>
    <pc:docChg chg="undo custSel modSld">
      <pc:chgData name="Magnus Lau Ovesen" userId="418c1f3d-3806-4e0c-b4a3-27babb601aa5" providerId="ADAL" clId="{B2478266-A00C-426C-895A-CA5BB70D660D}" dt="2026-10-19T13:00:27.989" v="34" actId="20577"/>
      <pc:docMkLst>
        <pc:docMk/>
      </pc:docMkLst>
      <pc:sldChg chg="modSp mod">
        <pc:chgData name="Magnus Lau Ovesen" userId="418c1f3d-3806-4e0c-b4a3-27babb601aa5" providerId="ADAL" clId="{B2478266-A00C-426C-895A-CA5BB70D660D}" dt="2026-10-19T10:38:22.592" v="1" actId="1076"/>
        <pc:sldMkLst>
          <pc:docMk/>
          <pc:sldMk cId="1280429120" sldId="257"/>
        </pc:sldMkLst>
        <pc:spChg chg="mod">
          <ac:chgData name="Magnus Lau Ovesen" userId="418c1f3d-3806-4e0c-b4a3-27babb601aa5" providerId="ADAL" clId="{B2478266-A00C-426C-895A-CA5BB70D660D}" dt="2026-10-19T10:38:22.592" v="1" actId="1076"/>
          <ac:spMkLst>
            <pc:docMk/>
            <pc:sldMk cId="1280429120" sldId="257"/>
            <ac:spMk id="2" creationId="{1F060E5B-1300-4EE5-B1F8-1DE448670C3E}"/>
          </ac:spMkLst>
        </pc:spChg>
      </pc:sldChg>
      <pc:sldChg chg="modSp mod">
        <pc:chgData name="Magnus Lau Ovesen" userId="418c1f3d-3806-4e0c-b4a3-27babb601aa5" providerId="ADAL" clId="{B2478266-A00C-426C-895A-CA5BB70D660D}" dt="2026-10-19T12:58:14.202" v="23" actId="20577"/>
        <pc:sldMkLst>
          <pc:docMk/>
          <pc:sldMk cId="1446986370" sldId="262"/>
        </pc:sldMkLst>
        <pc:spChg chg="mod">
          <ac:chgData name="Magnus Lau Ovesen" userId="418c1f3d-3806-4e0c-b4a3-27babb601aa5" providerId="ADAL" clId="{B2478266-A00C-426C-895A-CA5BB70D660D}" dt="2026-10-19T12:58:06.434" v="19" actId="20577"/>
          <ac:spMkLst>
            <pc:docMk/>
            <pc:sldMk cId="1446986370" sldId="262"/>
            <ac:spMk id="7" creationId="{C6E87001-91E7-4754-9998-B0F5A75CED4E}"/>
          </ac:spMkLst>
        </pc:spChg>
        <pc:spChg chg="mod">
          <ac:chgData name="Magnus Lau Ovesen" userId="418c1f3d-3806-4e0c-b4a3-27babb601aa5" providerId="ADAL" clId="{B2478266-A00C-426C-895A-CA5BB70D660D}" dt="2026-10-19T12:58:14.202" v="23" actId="20577"/>
          <ac:spMkLst>
            <pc:docMk/>
            <pc:sldMk cId="1446986370" sldId="262"/>
            <ac:spMk id="9" creationId="{7CB96FA3-8DC7-4464-9CC3-BEFB97F30722}"/>
          </ac:spMkLst>
        </pc:spChg>
      </pc:sldChg>
      <pc:sldChg chg="modSp mod">
        <pc:chgData name="Magnus Lau Ovesen" userId="418c1f3d-3806-4e0c-b4a3-27babb601aa5" providerId="ADAL" clId="{B2478266-A00C-426C-895A-CA5BB70D660D}" dt="2026-10-19T13:00:27.989" v="34" actId="20577"/>
        <pc:sldMkLst>
          <pc:docMk/>
          <pc:sldMk cId="1530399749" sldId="263"/>
        </pc:sldMkLst>
        <pc:spChg chg="mod">
          <ac:chgData name="Magnus Lau Ovesen" userId="418c1f3d-3806-4e0c-b4a3-27babb601aa5" providerId="ADAL" clId="{B2478266-A00C-426C-895A-CA5BB70D660D}" dt="2026-10-19T13:00:27.989" v="34" actId="20577"/>
          <ac:spMkLst>
            <pc:docMk/>
            <pc:sldMk cId="1530399749" sldId="263"/>
            <ac:spMk id="8" creationId="{B6D9D9A4-2EAB-4E61-A8A9-BF04AC5DD1CF}"/>
          </ac:spMkLst>
        </pc:spChg>
        <pc:spChg chg="mod">
          <ac:chgData name="Magnus Lau Ovesen" userId="418c1f3d-3806-4e0c-b4a3-27babb601aa5" providerId="ADAL" clId="{B2478266-A00C-426C-895A-CA5BB70D660D}" dt="2026-10-19T12:59:37.629" v="29" actId="20577"/>
          <ac:spMkLst>
            <pc:docMk/>
            <pc:sldMk cId="1530399749" sldId="263"/>
            <ac:spMk id="9" creationId="{C9D5E3B0-36E9-495A-886C-A732D525A5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L</a:t>
            </a:r>
          </a:p>
          <a:p>
            <a:endParaRPr lang="da-DK" dirty="0"/>
          </a:p>
          <a:p>
            <a:r>
              <a:rPr dirty="0"/>
              <a:t>TID: 20 </a:t>
            </a:r>
            <a:r>
              <a:rPr dirty="0" err="1"/>
              <a:t>sekunder</a:t>
            </a:r>
            <a:r>
              <a:rPr dirty="0"/>
              <a:t>.</a:t>
            </a:r>
          </a:p>
          <a:p>
            <a:endParaRPr dirty="0"/>
          </a:p>
          <a:p>
            <a:r>
              <a:rPr lang="da-DK" dirty="0"/>
              <a:t>Formål</a:t>
            </a:r>
            <a:r>
              <a:rPr dirty="0"/>
              <a:t>: vise </a:t>
            </a:r>
            <a:r>
              <a:rPr lang="da-DK" dirty="0"/>
              <a:t>hvad</a:t>
            </a:r>
            <a:r>
              <a:rPr dirty="0"/>
              <a:t> der </a:t>
            </a:r>
            <a:r>
              <a:rPr lang="da-DK" dirty="0"/>
              <a:t>virker</a:t>
            </a:r>
            <a:r>
              <a:rPr dirty="0"/>
              <a:t>, </a:t>
            </a:r>
            <a:r>
              <a:rPr lang="da-DK" dirty="0"/>
              <a:t>hvor</a:t>
            </a:r>
            <a:r>
              <a:rPr dirty="0"/>
              <a:t> </a:t>
            </a:r>
            <a:r>
              <a:rPr lang="da-DK" dirty="0"/>
              <a:t>modellen</a:t>
            </a:r>
            <a:r>
              <a:rPr dirty="0"/>
              <a:t> </a:t>
            </a:r>
            <a:r>
              <a:rPr lang="da-DK" dirty="0"/>
              <a:t>fejler</a:t>
            </a:r>
            <a:r>
              <a:rPr dirty="0"/>
              <a:t>, </a:t>
            </a:r>
            <a:r>
              <a:rPr lang="da-DK" dirty="0"/>
              <a:t>og</a:t>
            </a:r>
            <a:r>
              <a:rPr dirty="0"/>
              <a:t> </a:t>
            </a:r>
            <a:r>
              <a:rPr lang="da-DK" dirty="0"/>
              <a:t>hvad</a:t>
            </a:r>
            <a:r>
              <a:rPr dirty="0"/>
              <a:t> </a:t>
            </a:r>
            <a:r>
              <a:rPr lang="da-DK" dirty="0"/>
              <a:t>forklaringerne</a:t>
            </a:r>
            <a:r>
              <a:rPr dirty="0"/>
              <a:t> </a:t>
            </a:r>
            <a:r>
              <a:rPr lang="da-DK" dirty="0"/>
              <a:t>kan</a:t>
            </a:r>
            <a:r>
              <a:rPr dirty="0"/>
              <a:t> </a:t>
            </a:r>
            <a:r>
              <a:rPr lang="da-DK" dirty="0"/>
              <a:t>dokumentere</a:t>
            </a:r>
            <a:r>
              <a:rPr dirty="0"/>
              <a:t>. Denne version </a:t>
            </a:r>
            <a:r>
              <a:rPr lang="da-DK" dirty="0"/>
              <a:t>har</a:t>
            </a:r>
            <a:r>
              <a:rPr dirty="0"/>
              <a:t> 10 slides </a:t>
            </a:r>
            <a:r>
              <a:rPr lang="da-DK" dirty="0"/>
              <a:t>på</a:t>
            </a:r>
            <a:r>
              <a:rPr dirty="0"/>
              <a:t> </a:t>
            </a:r>
            <a:r>
              <a:rPr lang="da-DK" dirty="0"/>
              <a:t>i</a:t>
            </a:r>
            <a:r>
              <a:rPr dirty="0"/>
              <a:t> alt 10 </a:t>
            </a:r>
            <a:r>
              <a:rPr lang="da-DK" dirty="0"/>
              <a:t>minutter</a:t>
            </a:r>
            <a:r>
              <a:rPr dirty="0"/>
              <a:t>. </a:t>
            </a:r>
            <a:r>
              <a:rPr lang="da-DK" dirty="0"/>
              <a:t>Resten</a:t>
            </a:r>
            <a:r>
              <a:rPr dirty="0"/>
              <a:t> er backup </a:t>
            </a:r>
            <a:r>
              <a:rPr lang="da-DK" dirty="0"/>
              <a:t>til</a:t>
            </a:r>
            <a:r>
              <a:rPr dirty="0"/>
              <a:t> Q&amp;A. Brug </a:t>
            </a:r>
            <a:r>
              <a:rPr lang="da-DK" dirty="0"/>
              <a:t>samme</a:t>
            </a:r>
            <a:r>
              <a:rPr dirty="0"/>
              <a:t> case 57608 </a:t>
            </a:r>
            <a:r>
              <a:rPr lang="da-DK" dirty="0"/>
              <a:t>gennem</a:t>
            </a:r>
            <a:r>
              <a:rPr dirty="0"/>
              <a:t> alle </a:t>
            </a:r>
            <a:r>
              <a:rPr lang="da-DK" dirty="0"/>
              <a:t>lokale</a:t>
            </a:r>
            <a:r>
              <a:rPr dirty="0"/>
              <a:t> </a:t>
            </a:r>
            <a:r>
              <a:rPr lang="da-DK" dirty="0"/>
              <a:t>sammenligninger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Source: </a:t>
            </a:r>
            <a:r>
              <a:rPr lang="da-DK" dirty="0" err="1"/>
              <a:t>neural_network.ipynb</a:t>
            </a:r>
            <a:r>
              <a:rPr dirty="0"/>
              <a:t>, uploaded 19 Oct 2026. Saved outputs, not a new model run.</a:t>
            </a:r>
          </a:p>
          <a:p>
            <a:r>
              <a:rPr dirty="0"/>
              <a:t>Source: </a:t>
            </a:r>
            <a:r>
              <a:rPr lang="da-DK" dirty="0" err="1"/>
              <a:t>decision_tree.ipynb</a:t>
            </a:r>
            <a:r>
              <a:rPr dirty="0"/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t>TID: 40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70.692 BRFSS-</a:t>
            </a:r>
            <a:r>
              <a:rPr lang="da-DK" err="1"/>
              <a:t>personer</a:t>
            </a:r>
            <a:r>
              <a:t> med </a:t>
            </a:r>
            <a:r>
              <a:rPr lang="da-DK" err="1"/>
              <a:t>bevidst</a:t>
            </a:r>
            <a:r>
              <a:t> 50/50 </a:t>
            </a:r>
            <a:r>
              <a:rPr lang="da-DK" err="1"/>
              <a:t>klassefordeling</a:t>
            </a:r>
            <a:r>
              <a:t>. </a:t>
            </a:r>
            <a:r>
              <a:rPr lang="da-DK" err="1"/>
              <a:t>Opgaven</a:t>
            </a:r>
            <a:r>
              <a:t> er status </a:t>
            </a:r>
            <a:r>
              <a:rPr lang="da-DK" err="1"/>
              <a:t>ved</a:t>
            </a:r>
            <a:r>
              <a:t> </a:t>
            </a:r>
            <a:r>
              <a:rPr lang="da-DK" err="1"/>
              <a:t>spørgeskemaet</a:t>
            </a:r>
            <a:r>
              <a:t>,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fremtidig</a:t>
            </a:r>
            <a:r>
              <a:t> </a:t>
            </a:r>
            <a:r>
              <a:rPr lang="da-DK" err="1"/>
              <a:t>incidens</a:t>
            </a:r>
            <a:r>
              <a:t>. Test: 14.139 </a:t>
            </a:r>
            <a:r>
              <a:rPr lang="da-DK" err="1"/>
              <a:t>identiske</a:t>
            </a:r>
            <a:r>
              <a:t> </a:t>
            </a:r>
            <a:r>
              <a:rPr lang="da-DK" err="1"/>
              <a:t>personer</a:t>
            </a:r>
            <a:r>
              <a:t>. Træet </a:t>
            </a:r>
            <a:r>
              <a:rPr lang="da-DK" err="1"/>
              <a:t>trænes</a:t>
            </a:r>
            <a:r>
              <a:t> </a:t>
            </a:r>
            <a:r>
              <a:rPr lang="da-DK" err="1"/>
              <a:t>på</a:t>
            </a:r>
            <a:r>
              <a:t> 56.553, </a:t>
            </a:r>
            <a:r>
              <a:rPr lang="da-DK" err="1"/>
              <a:t>netværkets</a:t>
            </a:r>
            <a:r>
              <a:t> </a:t>
            </a:r>
            <a:r>
              <a:rPr lang="da-DK" err="1"/>
              <a:t>vægte</a:t>
            </a:r>
            <a:r>
              <a:t> </a:t>
            </a:r>
            <a:r>
              <a:rPr lang="da-DK" err="1"/>
              <a:t>på</a:t>
            </a:r>
            <a:r>
              <a:t> 45.242 </a:t>
            </a:r>
            <a:r>
              <a:rPr lang="da-DK" err="1"/>
              <a:t>og</a:t>
            </a:r>
            <a:r>
              <a:t> </a:t>
            </a:r>
            <a:r>
              <a:rPr lang="da-DK" err="1"/>
              <a:t>valideres</a:t>
            </a:r>
            <a:r>
              <a:t> </a:t>
            </a:r>
            <a:r>
              <a:rPr lang="da-DK" err="1"/>
              <a:t>på</a:t>
            </a:r>
            <a:r>
              <a:t> 11.311. Preprocessing er fit </a:t>
            </a:r>
            <a:r>
              <a:rPr lang="da-DK" err="1"/>
              <a:t>før</a:t>
            </a:r>
            <a:r>
              <a:t> det </a:t>
            </a:r>
            <a:r>
              <a:rPr lang="da-DK" err="1"/>
              <a:t>indre</a:t>
            </a:r>
            <a:r>
              <a:t> split: </a:t>
            </a:r>
            <a:r>
              <a:rPr lang="da-DK" err="1"/>
              <a:t>valideringsstatistik</a:t>
            </a:r>
            <a:r>
              <a:t> </a:t>
            </a:r>
            <a:r>
              <a:rPr lang="da-DK" err="1"/>
              <a:t>lækker</a:t>
            </a:r>
            <a:r>
              <a:t> </a:t>
            </a:r>
            <a:r>
              <a:rPr lang="da-DK" err="1"/>
              <a:t>ind</a:t>
            </a:r>
            <a:r>
              <a:t> </a:t>
            </a:r>
            <a:r>
              <a:rPr lang="da-DK" err="1"/>
              <a:t>i</a:t>
            </a:r>
            <a:r>
              <a:t> </a:t>
            </a:r>
            <a:r>
              <a:rPr lang="da-DK" err="1"/>
              <a:t>skaleringen</a:t>
            </a:r>
            <a:r>
              <a:t>, men </a:t>
            </a:r>
            <a:r>
              <a:rPr lang="da-DK" err="1"/>
              <a:t>testsættet</a:t>
            </a:r>
            <a:r>
              <a:t> er </a:t>
            </a:r>
            <a:r>
              <a:rPr lang="da-DK" err="1"/>
              <a:t>uberørt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TID: 60 </a:t>
            </a:r>
            <a:r>
              <a:rPr lang="da-DK"/>
              <a:t>sekunder</a:t>
            </a:r>
            <a:r>
              <a:t>.</a:t>
            </a:r>
          </a:p>
          <a:p>
            <a:endParaRPr/>
          </a:p>
          <a:p>
            <a:r>
              <a:rPr lang="da-DK" err="1"/>
              <a:t>Netværket</a:t>
            </a:r>
            <a:r>
              <a:t>: 21 </a:t>
            </a:r>
            <a:r>
              <a:rPr lang="da-DK" err="1"/>
              <a:t>standardiserede</a:t>
            </a:r>
            <a:r>
              <a:t> inputs, 32 </a:t>
            </a:r>
            <a:r>
              <a:rPr lang="da-DK" err="1"/>
              <a:t>skjulte</a:t>
            </a:r>
            <a:r>
              <a:t> </a:t>
            </a:r>
            <a:r>
              <a:rPr lang="da-DK" err="1"/>
              <a:t>neuroner</a:t>
            </a:r>
            <a:r>
              <a:t>, </a:t>
            </a:r>
            <a:r>
              <a:rPr lang="da-DK" err="1"/>
              <a:t>ReLU</a:t>
            </a:r>
            <a:r>
              <a:t>, 1 logit. Sigmoid </a:t>
            </a:r>
            <a:r>
              <a:rPr lang="da-DK" err="1"/>
              <a:t>anvendes</a:t>
            </a:r>
            <a:r>
              <a:t> </a:t>
            </a:r>
            <a:r>
              <a:rPr lang="da-DK" err="1"/>
              <a:t>ved</a:t>
            </a:r>
            <a:r>
              <a:t> prediction. 737 </a:t>
            </a:r>
            <a:r>
              <a:rPr lang="da-DK" err="1"/>
              <a:t>parametre</a:t>
            </a:r>
            <a:r>
              <a:t>. Adam </a:t>
            </a:r>
            <a:r>
              <a:rPr lang="da-DK" err="1"/>
              <a:t>optimerer</a:t>
            </a:r>
            <a:r>
              <a:t> </a:t>
            </a:r>
            <a:r>
              <a:rPr lang="da-DK" err="1"/>
              <a:t>BCEWithLogitsLoss</a:t>
            </a:r>
            <a:r>
              <a:t> </a:t>
            </a:r>
            <a:r>
              <a:rPr lang="da-DK" err="1"/>
              <a:t>i</a:t>
            </a:r>
            <a:r>
              <a:t> 30 </a:t>
            </a:r>
            <a:r>
              <a:rPr lang="da-DK" err="1"/>
              <a:t>epoker</a:t>
            </a:r>
            <a:r>
              <a:t>, batch 256, </a:t>
            </a:r>
            <a:r>
              <a:rPr lang="da-DK" err="1"/>
              <a:t>lr</a:t>
            </a:r>
            <a:r>
              <a:t> 0.001, weight decay 0.0001. Ingen early stopping. Træ: </a:t>
            </a:r>
            <a:r>
              <a:rPr lang="da-DK" err="1"/>
              <a:t>max_depth</a:t>
            </a:r>
            <a:r>
              <a:t>=4, </a:t>
            </a:r>
            <a:r>
              <a:rPr lang="da-DK" err="1"/>
              <a:t>min_samples_leaf</a:t>
            </a:r>
            <a:r>
              <a:t>=100, </a:t>
            </a:r>
            <a:r>
              <a:rPr lang="da-DK" err="1"/>
              <a:t>random_state</a:t>
            </a:r>
            <a:r>
              <a:t>=42. </a:t>
            </a:r>
            <a:r>
              <a:rPr lang="da-DK" err="1"/>
              <a:t>Figur</a:t>
            </a:r>
            <a:r>
              <a:t> </a:t>
            </a:r>
            <a:r>
              <a:rPr lang="da-DK" err="1"/>
              <a:t>fra</a:t>
            </a:r>
            <a:r>
              <a:t> NN-</a:t>
            </a:r>
            <a:r>
              <a:rPr lang="da-DK" err="1"/>
              <a:t>celle</a:t>
            </a:r>
            <a:r>
              <a:t> 5.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R</a:t>
            </a:r>
          </a:p>
          <a:p>
            <a:endParaRPr lang="da-DK"/>
          </a:p>
          <a:p>
            <a:r>
              <a:t>TID: 80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Figurer: NN-</a:t>
            </a:r>
            <a:r>
              <a:rPr lang="da-DK" err="1"/>
              <a:t>celle</a:t>
            </a:r>
            <a:r>
              <a:t> 7, DT-</a:t>
            </a:r>
            <a:r>
              <a:rPr lang="da-DK" err="1"/>
              <a:t>celle</a:t>
            </a:r>
            <a:r>
              <a:t> 8. NN TN4962 FP2108 FN1397 TP5672. DT TN4781 FP2289 FN1574 TP5495. Accuracy </a:t>
            </a:r>
            <a:r>
              <a:rPr lang="da-DK" err="1"/>
              <a:t>beregnet</a:t>
            </a:r>
            <a:r>
              <a:t> </a:t>
            </a:r>
            <a:r>
              <a:rPr lang="da-DK" err="1"/>
              <a:t>fra</a:t>
            </a:r>
            <a:r>
              <a:t> </a:t>
            </a:r>
            <a:r>
              <a:rPr lang="da-DK" err="1"/>
              <a:t>disse</a:t>
            </a:r>
            <a:r>
              <a:t> </a:t>
            </a:r>
            <a:r>
              <a:rPr lang="da-DK" err="1"/>
              <a:t>matricer</a:t>
            </a:r>
            <a:r>
              <a:t> er 75.21 </a:t>
            </a:r>
            <a:r>
              <a:rPr lang="da-DK" err="1"/>
              <a:t>og</a:t>
            </a:r>
            <a:r>
              <a:t> 72.68 </a:t>
            </a:r>
            <a:r>
              <a:rPr lang="da-DK" err="1"/>
              <a:t>procent</a:t>
            </a:r>
            <a:r>
              <a:t>. NN ROC-AUC .830, DT .795. Ved </a:t>
            </a:r>
            <a:r>
              <a:rPr lang="da-DK" err="1"/>
              <a:t>tærskel</a:t>
            </a:r>
            <a:r>
              <a:t> .5 </a:t>
            </a:r>
            <a:r>
              <a:rPr lang="da-DK" err="1"/>
              <a:t>overser</a:t>
            </a:r>
            <a:r>
              <a:t> NN 19.76 </a:t>
            </a:r>
            <a:r>
              <a:rPr lang="da-DK" err="1"/>
              <a:t>procent</a:t>
            </a:r>
            <a:r>
              <a:t> </a:t>
            </a:r>
            <a:r>
              <a:rPr lang="da-DK" err="1"/>
              <a:t>af</a:t>
            </a:r>
            <a:r>
              <a:t> positive </a:t>
            </a:r>
            <a:r>
              <a:rPr lang="da-DK" err="1"/>
              <a:t>og</a:t>
            </a:r>
            <a:r>
              <a:t> giver alarm hos 29.82 </a:t>
            </a:r>
            <a:r>
              <a:rPr lang="da-DK" err="1"/>
              <a:t>procent</a:t>
            </a:r>
            <a:r>
              <a:t> </a:t>
            </a:r>
            <a:r>
              <a:rPr lang="da-DK" err="1"/>
              <a:t>af</a:t>
            </a:r>
            <a:r>
              <a:t> negative. </a:t>
            </a:r>
            <a:r>
              <a:rPr lang="da-DK" err="1"/>
              <a:t>Fejlomkostninger</a:t>
            </a:r>
            <a:r>
              <a:t> </a:t>
            </a:r>
            <a:r>
              <a:rPr lang="da-DK" err="1"/>
              <a:t>og</a:t>
            </a:r>
            <a:r>
              <a:t> </a:t>
            </a:r>
            <a:r>
              <a:rPr lang="da-DK" err="1"/>
              <a:t>tærskel</a:t>
            </a:r>
            <a:r>
              <a:t> </a:t>
            </a:r>
            <a:r>
              <a:rPr lang="da-DK" err="1"/>
              <a:t>skal</a:t>
            </a:r>
            <a:r>
              <a:t> </a:t>
            </a:r>
            <a:r>
              <a:rPr lang="da-DK" err="1"/>
              <a:t>aftales</a:t>
            </a:r>
            <a:r>
              <a:t> </a:t>
            </a:r>
            <a:r>
              <a:rPr lang="da-DK" err="1"/>
              <a:t>før</a:t>
            </a:r>
            <a:r>
              <a:t> drift. Ingen CI </a:t>
            </a:r>
            <a:r>
              <a:rPr lang="da-DK" err="1"/>
              <a:t>eller</a:t>
            </a:r>
            <a:r>
              <a:t> </a:t>
            </a:r>
            <a:r>
              <a:rPr lang="da-DK" err="1"/>
              <a:t>parret</a:t>
            </a:r>
            <a:r>
              <a:t> </a:t>
            </a:r>
            <a:r>
              <a:rPr lang="da-DK" err="1"/>
              <a:t>signifikanstest</a:t>
            </a:r>
            <a:r>
              <a:t>: </a:t>
            </a:r>
            <a:r>
              <a:rPr lang="da-DK" err="1"/>
              <a:t>forskel</a:t>
            </a:r>
            <a:r>
              <a:t> er </a:t>
            </a:r>
            <a:r>
              <a:rPr lang="da-DK" err="1"/>
              <a:t>observeret</a:t>
            </a:r>
            <a:r>
              <a:t>,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dokumenteret</a:t>
            </a:r>
            <a:r>
              <a:t> </a:t>
            </a:r>
            <a:r>
              <a:rPr lang="da-DK" err="1"/>
              <a:t>signifikant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M</a:t>
            </a:r>
          </a:p>
          <a:p>
            <a:endParaRPr lang="da-DK"/>
          </a:p>
          <a:p>
            <a:r>
              <a:t>TID: 60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NN global Kernel SHAP </a:t>
            </a:r>
            <a:r>
              <a:rPr lang="da-DK" err="1"/>
              <a:t>fra</a:t>
            </a:r>
            <a:r>
              <a:t> celle17, 40 </a:t>
            </a:r>
            <a:r>
              <a:rPr lang="da-DK" err="1"/>
              <a:t>testpersoner</a:t>
            </a:r>
            <a:r>
              <a:t>. DT permutation importance </a:t>
            </a:r>
            <a:r>
              <a:rPr lang="da-DK" err="1"/>
              <a:t>fra</a:t>
            </a:r>
            <a:r>
              <a:t> celle12, 2.000 </a:t>
            </a:r>
            <a:r>
              <a:rPr lang="da-DK" err="1"/>
              <a:t>testpersoner</a:t>
            </a:r>
            <a:r>
              <a:t>, fem repeats, ROC-AUC. </a:t>
            </a:r>
            <a:r>
              <a:rPr lang="da-DK" err="1"/>
              <a:t>Metoder</a:t>
            </a:r>
            <a:r>
              <a:t> </a:t>
            </a:r>
            <a:r>
              <a:rPr lang="da-DK" err="1"/>
              <a:t>og</a:t>
            </a:r>
            <a:r>
              <a:t> </a:t>
            </a:r>
            <a:r>
              <a:rPr lang="da-DK" err="1"/>
              <a:t>udsnit</a:t>
            </a:r>
            <a:r>
              <a:t> er </a:t>
            </a:r>
            <a:r>
              <a:rPr lang="da-DK" err="1"/>
              <a:t>forskellige</a:t>
            </a:r>
            <a:r>
              <a:t>, </a:t>
            </a:r>
            <a:r>
              <a:rPr lang="da-DK" err="1"/>
              <a:t>så</a:t>
            </a:r>
            <a:r>
              <a:t> </a:t>
            </a:r>
            <a:r>
              <a:rPr lang="da-DK" err="1"/>
              <a:t>sammenlign</a:t>
            </a:r>
            <a:r>
              <a:t> </a:t>
            </a:r>
            <a:r>
              <a:rPr lang="da-DK" err="1"/>
              <a:t>rangorden</a:t>
            </a:r>
            <a:r>
              <a:t>,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søjlehøjde</a:t>
            </a:r>
            <a:r>
              <a:t>. </a:t>
            </a:r>
            <a:r>
              <a:rPr lang="da-DK" err="1"/>
              <a:t>Begge</a:t>
            </a:r>
            <a:r>
              <a:t> </a:t>
            </a:r>
            <a:r>
              <a:rPr lang="da-DK" err="1"/>
              <a:t>fremhæver</a:t>
            </a:r>
            <a:r>
              <a:t> </a:t>
            </a:r>
            <a:r>
              <a:rPr lang="da-DK" err="1"/>
              <a:t>GenHlth</a:t>
            </a:r>
            <a:r>
              <a:t> </a:t>
            </a:r>
            <a:r>
              <a:rPr lang="da-DK" err="1"/>
              <a:t>HighBP</a:t>
            </a:r>
            <a:r>
              <a:t> BMI Age </a:t>
            </a:r>
            <a:r>
              <a:rPr lang="da-DK" err="1"/>
              <a:t>HighChol</a:t>
            </a:r>
            <a:r>
              <a:t>. Ingen </a:t>
            </a:r>
            <a:r>
              <a:rPr lang="da-DK" err="1"/>
              <a:t>udført</a:t>
            </a:r>
            <a:r>
              <a:t> NN-permutation-importance </a:t>
            </a:r>
            <a:r>
              <a:rPr lang="da-DK" err="1"/>
              <a:t>i</a:t>
            </a:r>
            <a:r>
              <a:t> den </a:t>
            </a:r>
            <a:r>
              <a:rPr lang="da-DK" err="1"/>
              <a:t>uploadede</a:t>
            </a:r>
            <a:r>
              <a:t> NN: </a:t>
            </a:r>
            <a:r>
              <a:rPr lang="da-DK" err="1"/>
              <a:t>overskriften</a:t>
            </a:r>
            <a:r>
              <a:t> </a:t>
            </a:r>
            <a:r>
              <a:rPr lang="da-DK" err="1"/>
              <a:t>indeholder</a:t>
            </a:r>
            <a:r>
              <a:t> </a:t>
            </a:r>
            <a:r>
              <a:rPr lang="da-DK" err="1"/>
              <a:t>kun</a:t>
            </a:r>
            <a:r>
              <a:t> wrapper. </a:t>
            </a:r>
            <a:r>
              <a:rPr lang="da-DK" err="1"/>
              <a:t>Derfor</a:t>
            </a:r>
            <a:r>
              <a:t> </a:t>
            </a:r>
            <a:r>
              <a:rPr lang="da-DK" err="1"/>
              <a:t>kan</a:t>
            </a:r>
            <a:r>
              <a:t> vi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påstå</a:t>
            </a:r>
            <a:r>
              <a:t> global SHAP/PFI-</a:t>
            </a:r>
            <a:r>
              <a:rPr lang="da-DK" err="1"/>
              <a:t>validering</a:t>
            </a:r>
            <a:r>
              <a:t> </a:t>
            </a:r>
            <a:r>
              <a:rPr lang="da-DK" err="1"/>
              <a:t>inden</a:t>
            </a:r>
            <a:r>
              <a:t> for </a:t>
            </a:r>
            <a:r>
              <a:rPr lang="da-DK" err="1"/>
              <a:t>begge</a:t>
            </a:r>
            <a:r>
              <a:t> </a:t>
            </a:r>
            <a:r>
              <a:rPr lang="da-DK" err="1"/>
              <a:t>modeller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t>TID: 60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t>Cases </a:t>
            </a:r>
            <a:r>
              <a:rPr lang="da-DK" err="1"/>
              <a:t>fra</a:t>
            </a:r>
            <a:r>
              <a:t> </a:t>
            </a:r>
            <a:r>
              <a:rPr lang="da-DK" err="1"/>
              <a:t>gemte</a:t>
            </a:r>
            <a:r>
              <a:t> error-audit-</a:t>
            </a:r>
            <a:r>
              <a:rPr lang="da-DK" err="1"/>
              <a:t>tabeller</a:t>
            </a:r>
            <a:r>
              <a:t>, </a:t>
            </a:r>
            <a:r>
              <a:rPr lang="da-DK" err="1"/>
              <a:t>ikke</a:t>
            </a:r>
            <a:r>
              <a:t> case57608. NN indeks3439 label0 score.967938: BMI72, </a:t>
            </a:r>
            <a:r>
              <a:rPr lang="da-DK" err="1"/>
              <a:t>GenHlth</a:t>
            </a:r>
            <a:r>
              <a:t> </a:t>
            </a:r>
            <a:r>
              <a:rPr lang="da-DK" err="1"/>
              <a:t>m.fl</a:t>
            </a:r>
            <a:r>
              <a:t>.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nødvendigt</a:t>
            </a:r>
            <a:r>
              <a:t> </a:t>
            </a:r>
            <a:r>
              <a:rPr lang="da-DK" err="1"/>
              <a:t>fuldt</a:t>
            </a:r>
            <a:r>
              <a:t> </a:t>
            </a:r>
            <a:r>
              <a:rPr lang="da-DK" err="1"/>
              <a:t>angivet</a:t>
            </a:r>
            <a:r>
              <a:t>. NN66055 label1 score.006861 BMI20, HighBP0 HighChol0 Age2. DT30163 label0 score.852626, BMI34 HighBP1 HighChol1. DT67337 label1 score.058439 BMI28 HighBP0 HighChol0. Ingen LIME/SHAP </a:t>
            </a:r>
            <a:r>
              <a:rPr lang="da-DK" err="1"/>
              <a:t>på</a:t>
            </a:r>
            <a:r>
              <a:t> </a:t>
            </a:r>
            <a:r>
              <a:rPr lang="da-DK" err="1"/>
              <a:t>disse</a:t>
            </a:r>
            <a:r>
              <a:t> </a:t>
            </a:r>
            <a:r>
              <a:rPr lang="da-DK" err="1"/>
              <a:t>fejl</a:t>
            </a:r>
            <a:r>
              <a:t> </a:t>
            </a:r>
            <a:r>
              <a:rPr lang="da-DK" err="1"/>
              <a:t>i</a:t>
            </a:r>
            <a:r>
              <a:t> notebooks: </a:t>
            </a:r>
            <a:r>
              <a:rPr lang="da-DK" err="1"/>
              <a:t>kan</a:t>
            </a:r>
            <a:r>
              <a:t> </a:t>
            </a:r>
            <a:r>
              <a:rPr lang="da-DK" err="1"/>
              <a:t>ikke</a:t>
            </a:r>
            <a:r>
              <a:t> </a:t>
            </a:r>
            <a:r>
              <a:rPr lang="da-DK" err="1"/>
              <a:t>konkludere</a:t>
            </a:r>
            <a:r>
              <a:t> </a:t>
            </a:r>
            <a:r>
              <a:rPr lang="da-DK" err="1"/>
              <a:t>hvilke</a:t>
            </a:r>
            <a:r>
              <a:t> </a:t>
            </a:r>
            <a:r>
              <a:rPr lang="da-DK" err="1"/>
              <a:t>bidrag</a:t>
            </a:r>
            <a:r>
              <a:t> </a:t>
            </a:r>
            <a:r>
              <a:rPr lang="da-DK" err="1"/>
              <a:t>forårsager</a:t>
            </a:r>
            <a:r>
              <a:t> </a:t>
            </a:r>
            <a:r>
              <a:rPr lang="da-DK" err="1"/>
              <a:t>fejlen</a:t>
            </a:r>
            <a:r>
              <a:t>. </a:t>
            </a:r>
            <a:r>
              <a:rPr lang="da-DK" err="1"/>
              <a:t>Næste</a:t>
            </a:r>
            <a:r>
              <a:t> test: </a:t>
            </a:r>
            <a:r>
              <a:rPr lang="da-DK" err="1"/>
              <a:t>forklar</a:t>
            </a:r>
            <a:r>
              <a:t> </a:t>
            </a:r>
            <a:r>
              <a:rPr lang="da-DK" err="1"/>
              <a:t>samme</a:t>
            </a:r>
            <a:r>
              <a:t> </a:t>
            </a:r>
            <a:r>
              <a:rPr lang="da-DK" err="1"/>
              <a:t>falske</a:t>
            </a:r>
            <a:r>
              <a:t> </a:t>
            </a:r>
            <a:r>
              <a:rPr lang="da-DK" err="1"/>
              <a:t>positiver</a:t>
            </a:r>
            <a:r>
              <a:t> </a:t>
            </a:r>
            <a:r>
              <a:rPr lang="da-DK" err="1"/>
              <a:t>og</a:t>
            </a:r>
            <a:r>
              <a:t> </a:t>
            </a:r>
            <a:r>
              <a:rPr lang="da-DK" err="1"/>
              <a:t>negativer</a:t>
            </a:r>
            <a:r>
              <a:t>, </a:t>
            </a:r>
            <a:r>
              <a:rPr lang="da-DK" err="1"/>
              <a:t>analyser</a:t>
            </a:r>
            <a:r>
              <a:t> alders/</a:t>
            </a:r>
            <a:r>
              <a:rPr lang="da-DK" err="1"/>
              <a:t>kønsgrupper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TID: 50 sekunder.</a:t>
            </a:r>
          </a:p>
          <a:p>
            <a:endParaRPr/>
          </a:p>
          <a:p>
            <a:r>
              <a:t>Case57608 er </a:t>
            </a:r>
            <a:r>
              <a:rPr lang="da-DK" err="1"/>
              <a:t>en</a:t>
            </a:r>
            <a:r>
              <a:t> kvinde65–69 med BMI53, GenHlth4, HighBP1 HighChol1. Label1 </a:t>
            </a:r>
            <a:r>
              <a:rPr lang="da-DK" err="1"/>
              <a:t>betyder</a:t>
            </a:r>
            <a:r>
              <a:t> </a:t>
            </a:r>
            <a:r>
              <a:rPr lang="da-DK" err="1"/>
              <a:t>prædiabetes</a:t>
            </a:r>
            <a:r>
              <a:t> ELLER diabetes </a:t>
            </a:r>
            <a:r>
              <a:rPr lang="da-DK" err="1"/>
              <a:t>og</a:t>
            </a:r>
            <a:r>
              <a:t> </a:t>
            </a:r>
            <a:r>
              <a:rPr lang="da-DK" err="1"/>
              <a:t>skelner</a:t>
            </a:r>
            <a:r>
              <a:t> </a:t>
            </a:r>
            <a:r>
              <a:rPr lang="da-DK" err="1"/>
              <a:t>ikke</a:t>
            </a:r>
            <a:r>
              <a:t>. </a:t>
            </a:r>
            <a:r>
              <a:rPr lang="da-DK" err="1"/>
              <a:t>Begge</a:t>
            </a:r>
            <a:r>
              <a:t> </a:t>
            </a:r>
            <a:r>
              <a:rPr lang="da-DK" err="1"/>
              <a:t>modeller</a:t>
            </a:r>
            <a:r>
              <a:t> </a:t>
            </a:r>
            <a:r>
              <a:rPr lang="da-DK" err="1"/>
              <a:t>har</a:t>
            </a:r>
            <a:r>
              <a:t> </a:t>
            </a:r>
            <a:r>
              <a:rPr lang="da-DK" err="1"/>
              <a:t>korrekt</a:t>
            </a:r>
            <a:r>
              <a:t> </a:t>
            </a:r>
            <a:r>
              <a:rPr lang="da-DK" err="1"/>
              <a:t>positiv</a:t>
            </a:r>
            <a:r>
              <a:t> </a:t>
            </a:r>
            <a:r>
              <a:rPr lang="da-DK" err="1"/>
              <a:t>klassifikation</a:t>
            </a:r>
            <a:r>
              <a:t>. Reference-PDF </a:t>
            </a:r>
            <a:r>
              <a:rPr lang="da-DK" err="1"/>
              <a:t>nævnte</a:t>
            </a:r>
            <a:r>
              <a:t> </a:t>
            </a:r>
            <a:r>
              <a:rPr lang="da-DK" err="1"/>
              <a:t>en</a:t>
            </a:r>
            <a:r>
              <a:t> </a:t>
            </a:r>
            <a:r>
              <a:rPr lang="da-DK" err="1"/>
              <a:t>falsk</a:t>
            </a:r>
            <a:r>
              <a:t> </a:t>
            </a:r>
            <a:r>
              <a:rPr lang="da-DK" err="1"/>
              <a:t>positiv</a:t>
            </a:r>
            <a:r>
              <a:t> tree score85.3: det er </a:t>
            </a:r>
            <a:r>
              <a:rPr lang="da-DK" err="1"/>
              <a:t>en</a:t>
            </a:r>
            <a:r>
              <a:t> </a:t>
            </a:r>
            <a:r>
              <a:rPr lang="da-DK" err="1"/>
              <a:t>anden</a:t>
            </a:r>
            <a:r>
              <a:t> person, </a:t>
            </a:r>
            <a:r>
              <a:rPr lang="da-DK" err="1"/>
              <a:t>selv</a:t>
            </a:r>
            <a:r>
              <a:t> om scores </a:t>
            </a:r>
            <a:r>
              <a:rPr lang="da-DK" err="1"/>
              <a:t>kan</a:t>
            </a:r>
            <a:r>
              <a:t> </a:t>
            </a:r>
            <a:r>
              <a:rPr lang="da-DK" err="1"/>
              <a:t>være</a:t>
            </a:r>
            <a:r>
              <a:t> </a:t>
            </a:r>
            <a:r>
              <a:rPr lang="da-DK" err="1"/>
              <a:t>ens</a:t>
            </a:r>
            <a:r>
              <a:t> </a:t>
            </a:r>
            <a:r>
              <a:rPr lang="da-DK" err="1"/>
              <a:t>i</a:t>
            </a:r>
            <a:r>
              <a:t> </a:t>
            </a:r>
            <a:r>
              <a:rPr lang="da-DK" err="1"/>
              <a:t>samme</a:t>
            </a:r>
            <a:r>
              <a:t> </a:t>
            </a:r>
            <a:r>
              <a:rPr lang="da-DK" err="1"/>
              <a:t>blad</a:t>
            </a:r>
            <a:r>
              <a:t>. </a:t>
            </a:r>
            <a:r>
              <a:rPr lang="da-DK" err="1"/>
              <a:t>Træets</a:t>
            </a:r>
            <a:r>
              <a:t> </a:t>
            </a:r>
            <a:r>
              <a:rPr lang="da-DK" err="1"/>
              <a:t>eksakte</a:t>
            </a:r>
            <a:r>
              <a:t> </a:t>
            </a:r>
            <a:r>
              <a:rPr lang="da-DK" err="1"/>
              <a:t>vej</a:t>
            </a:r>
            <a:r>
              <a:t> </a:t>
            </a:r>
            <a:r>
              <a:rPr lang="da-DK" err="1"/>
              <a:t>fra</a:t>
            </a:r>
            <a:r>
              <a:t> celle14. Variable definitions: https://www.cdc.gov/brfss/annual_data/2015/pdf/codebook15_llcp.pdf ; https://archive.ics.uci.edu/dataset/891/cdc+diabetes+health+indicators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R</a:t>
            </a:r>
          </a:p>
          <a:p>
            <a:endParaRPr lang="da-DK"/>
          </a:p>
          <a:p>
            <a:r>
              <a:t>TID: 80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rPr err="1"/>
              <a:t>Figur</a:t>
            </a:r>
            <a:r>
              <a:t> NN-celle14. LIME </a:t>
            </a:r>
            <a:r>
              <a:rPr err="1"/>
              <a:t>begge</a:t>
            </a:r>
            <a:r>
              <a:t>: 3000 perturbations, 10 features, seed42, klasse1, quartile bins, </a:t>
            </a:r>
            <a:r>
              <a:rPr err="1"/>
              <a:t>binære</a:t>
            </a:r>
            <a:r>
              <a:t> features </a:t>
            </a:r>
            <a:r>
              <a:rPr err="1"/>
              <a:t>kategoriske</a:t>
            </a:r>
            <a:r>
              <a:t>. Standard surrogate er weighted Ridge alpha1 med intercept. LIME </a:t>
            </a:r>
            <a:r>
              <a:rPr err="1"/>
              <a:t>forklarer</a:t>
            </a:r>
            <a:r>
              <a:t> </a:t>
            </a:r>
            <a:r>
              <a:rPr err="1"/>
              <a:t>modelscore</a:t>
            </a:r>
            <a:r>
              <a:t>, </a:t>
            </a:r>
            <a:r>
              <a:rPr err="1"/>
              <a:t>ikke</a:t>
            </a:r>
            <a:r>
              <a:t> labels. NN R² .4785, DT .4503. 20NN-runs seeds0–19 giver R² .4654 ± .0122 </a:t>
            </a:r>
            <a:r>
              <a:rPr err="1"/>
              <a:t>og</a:t>
            </a:r>
            <a:r>
              <a:t> </a:t>
            </a:r>
            <a:r>
              <a:rPr err="1"/>
              <a:t>absolut</a:t>
            </a:r>
            <a:r>
              <a:t> </a:t>
            </a:r>
            <a:r>
              <a:rPr err="1"/>
              <a:t>lokal</a:t>
            </a:r>
            <a:r>
              <a:t> </a:t>
            </a:r>
            <a:r>
              <a:rPr err="1"/>
              <a:t>fejl</a:t>
            </a:r>
            <a:r>
              <a:t> .1231 ± .0141. Fire </a:t>
            </a:r>
            <a:r>
              <a:rPr err="1"/>
              <a:t>topfeatures</a:t>
            </a:r>
            <a:r>
              <a:t> er </a:t>
            </a:r>
            <a:r>
              <a:rPr err="1"/>
              <a:t>altid</a:t>
            </a:r>
            <a:r>
              <a:t> top5. Ridge </a:t>
            </a:r>
            <a:r>
              <a:rPr err="1"/>
              <a:t>kan</a:t>
            </a:r>
            <a:r>
              <a:t> give &gt;1. DT-LIME </a:t>
            </a:r>
            <a:r>
              <a:rPr err="1"/>
              <a:t>tildeler</a:t>
            </a:r>
            <a:r>
              <a:t> </a:t>
            </a:r>
            <a:r>
              <a:rPr err="1"/>
              <a:t>eksempelvis</a:t>
            </a:r>
            <a:r>
              <a:t> </a:t>
            </a:r>
            <a:r>
              <a:rPr err="1"/>
              <a:t>CholCheck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HvyAlcoholConsump</a:t>
            </a:r>
            <a:r>
              <a:t> </a:t>
            </a:r>
            <a:r>
              <a:rPr err="1"/>
              <a:t>vægte</a:t>
            </a:r>
            <a:r>
              <a:t> </a:t>
            </a:r>
            <a:r>
              <a:rPr err="1"/>
              <a:t>selvom</a:t>
            </a:r>
            <a:r>
              <a:t> </a:t>
            </a:r>
            <a:r>
              <a:rPr err="1"/>
              <a:t>træet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bruger</a:t>
            </a:r>
            <a:r>
              <a:t> dem. Det er </a:t>
            </a:r>
            <a:r>
              <a:rPr err="1"/>
              <a:t>forklaringsartefakter</a:t>
            </a:r>
            <a:r>
              <a:t>. Methods: https://lime-ml.readthedocs.io/en/latest/lime.html ; https://github.com/marcotcr/lime/blob/master/lime/lime_base.py ; https://shap.readthedocs.io/en/latest/generated/shap.KernelExplainer.html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M</a:t>
            </a:r>
          </a:p>
          <a:p>
            <a:endParaRPr lang="da-DK"/>
          </a:p>
          <a:p>
            <a:r>
              <a:rPr dirty="0"/>
              <a:t>TID: 90 </a:t>
            </a:r>
            <a:r>
              <a:rPr lang="da-DK" err="1"/>
              <a:t>sekunder</a:t>
            </a:r>
            <a:r>
              <a:rPr dirty="0"/>
              <a:t>.</a:t>
            </a:r>
          </a:p>
          <a:p>
            <a:endParaRPr dirty="0"/>
          </a:p>
          <a:p>
            <a:r>
              <a:rPr lang="da-DK" err="1"/>
              <a:t>Originale</a:t>
            </a:r>
            <a:r>
              <a:rPr dirty="0"/>
              <a:t> </a:t>
            </a:r>
            <a:r>
              <a:rPr lang="da-DK" err="1"/>
              <a:t>lokale</a:t>
            </a:r>
            <a:r>
              <a:rPr dirty="0"/>
              <a:t> waterfall-figurer, NN18 </a:t>
            </a:r>
            <a:r>
              <a:rPr lang="da-DK" err="1"/>
              <a:t>og</a:t>
            </a:r>
            <a:r>
              <a:rPr dirty="0"/>
              <a:t> DT22. 50 </a:t>
            </a:r>
            <a:r>
              <a:rPr lang="da-DK" err="1"/>
              <a:t>træningspersoner</a:t>
            </a:r>
            <a:r>
              <a:rPr dirty="0"/>
              <a:t> </a:t>
            </a:r>
            <a:r>
              <a:rPr lang="da-DK" err="1"/>
              <a:t>som</a:t>
            </a:r>
            <a:r>
              <a:rPr dirty="0"/>
              <a:t> </a:t>
            </a:r>
            <a:r>
              <a:rPr lang="da-DK" err="1"/>
              <a:t>baggrund</a:t>
            </a:r>
            <a:r>
              <a:rPr dirty="0"/>
              <a:t>, nsamples200, identity link, seed42 </a:t>
            </a:r>
            <a:r>
              <a:rPr lang="da-DK" err="1"/>
              <a:t>lokalt</a:t>
            </a:r>
            <a:r>
              <a:rPr dirty="0"/>
              <a:t>. NN base ca.5092 + </a:t>
            </a:r>
            <a:r>
              <a:rPr lang="da-DK" err="1"/>
              <a:t>bidrag</a:t>
            </a:r>
            <a:r>
              <a:rPr dirty="0"/>
              <a:t> .3762 = .8854. DT base ca.4857 + .3669 = .8526. </a:t>
            </a:r>
            <a:r>
              <a:rPr lang="da-DK" err="1"/>
              <a:t>Netværk</a:t>
            </a:r>
            <a:r>
              <a:rPr dirty="0"/>
              <a:t> </a:t>
            </a:r>
            <a:r>
              <a:rPr lang="da-DK" err="1"/>
              <a:t>GenHlth</a:t>
            </a:r>
            <a:r>
              <a:rPr dirty="0"/>
              <a:t> .128003 BMI .099715 </a:t>
            </a:r>
            <a:r>
              <a:rPr lang="da-DK" err="1"/>
              <a:t>HighBP</a:t>
            </a:r>
            <a:r>
              <a:rPr dirty="0"/>
              <a:t> .058207. Træ </a:t>
            </a:r>
            <a:r>
              <a:rPr lang="da-DK" err="1"/>
              <a:t>HighBP</a:t>
            </a:r>
            <a:r>
              <a:rPr dirty="0"/>
              <a:t> .111928 </a:t>
            </a:r>
            <a:r>
              <a:rPr lang="da-DK" err="1"/>
              <a:t>GenHlth</a:t>
            </a:r>
            <a:r>
              <a:rPr dirty="0"/>
              <a:t> .110505 BMI .069431. Sum er </a:t>
            </a:r>
            <a:r>
              <a:rPr lang="da-DK" err="1"/>
              <a:t>en</a:t>
            </a:r>
            <a:r>
              <a:rPr dirty="0"/>
              <a:t> </a:t>
            </a:r>
            <a:r>
              <a:rPr lang="da-DK" err="1"/>
              <a:t>metodeegenskab</a:t>
            </a:r>
            <a:r>
              <a:rPr dirty="0"/>
              <a:t>, </a:t>
            </a:r>
            <a:r>
              <a:rPr lang="da-DK" err="1"/>
              <a:t>ikke</a:t>
            </a:r>
            <a:r>
              <a:rPr dirty="0"/>
              <a:t> </a:t>
            </a:r>
            <a:r>
              <a:rPr lang="da-DK" err="1"/>
              <a:t>selvstændig</a:t>
            </a:r>
            <a:r>
              <a:rPr dirty="0"/>
              <a:t> </a:t>
            </a:r>
            <a:r>
              <a:rPr lang="da-DK" err="1"/>
              <a:t>validering</a:t>
            </a:r>
            <a:r>
              <a:rPr dirty="0"/>
              <a:t>. </a:t>
            </a:r>
            <a:r>
              <a:rPr lang="da-DK" err="1"/>
              <a:t>Små</a:t>
            </a:r>
            <a:r>
              <a:rPr dirty="0"/>
              <a:t> </a:t>
            </a:r>
            <a:r>
              <a:rPr lang="da-DK" err="1"/>
              <a:t>bidrag</a:t>
            </a:r>
            <a:r>
              <a:rPr dirty="0"/>
              <a:t> </a:t>
            </a:r>
            <a:r>
              <a:rPr lang="da-DK" err="1"/>
              <a:t>fra</a:t>
            </a:r>
            <a:r>
              <a:rPr dirty="0"/>
              <a:t> </a:t>
            </a:r>
            <a:r>
              <a:rPr lang="da-DK" err="1"/>
              <a:t>helt</a:t>
            </a:r>
            <a:r>
              <a:rPr dirty="0"/>
              <a:t> </a:t>
            </a:r>
            <a:r>
              <a:rPr lang="da-DK" err="1"/>
              <a:t>ubrugte</a:t>
            </a:r>
            <a:r>
              <a:rPr dirty="0"/>
              <a:t> tree-features er </a:t>
            </a:r>
            <a:r>
              <a:rPr lang="da-DK" err="1"/>
              <a:t>estimationsartefakter</a:t>
            </a:r>
            <a:r>
              <a:rPr dirty="0"/>
              <a:t>. l1_reg er </a:t>
            </a:r>
            <a:r>
              <a:rPr lang="da-DK" err="1"/>
              <a:t>ikke</a:t>
            </a:r>
            <a:r>
              <a:rPr dirty="0"/>
              <a:t> </a:t>
            </a:r>
            <a:r>
              <a:rPr lang="da-DK" err="1"/>
              <a:t>angivet</a:t>
            </a:r>
            <a:r>
              <a:rPr dirty="0"/>
              <a:t>, version </a:t>
            </a:r>
            <a:r>
              <a:rPr lang="da-DK" err="1"/>
              <a:t>ikke</a:t>
            </a:r>
            <a:r>
              <a:rPr dirty="0"/>
              <a:t> </a:t>
            </a:r>
            <a:r>
              <a:rPr lang="da-DK" err="1"/>
              <a:t>gemt</a:t>
            </a:r>
            <a:r>
              <a:rPr dirty="0"/>
              <a:t>: </a:t>
            </a:r>
            <a:r>
              <a:rPr lang="da-DK" err="1"/>
              <a:t>nyere</a:t>
            </a:r>
            <a:r>
              <a:rPr dirty="0"/>
              <a:t> standard udvælger10 features. </a:t>
            </a:r>
            <a:r>
              <a:rPr lang="da-DK" err="1"/>
              <a:t>Nul</a:t>
            </a:r>
            <a:r>
              <a:rPr dirty="0"/>
              <a:t> </a:t>
            </a:r>
            <a:r>
              <a:rPr lang="da-DK" err="1"/>
              <a:t>betyder</a:t>
            </a:r>
            <a:r>
              <a:rPr dirty="0"/>
              <a:t> </a:t>
            </a:r>
            <a:r>
              <a:rPr lang="da-DK" err="1"/>
              <a:t>ikke</a:t>
            </a:r>
            <a:r>
              <a:rPr dirty="0"/>
              <a:t> </a:t>
            </a:r>
            <a:r>
              <a:rPr lang="da-DK" err="1"/>
              <a:t>nødvendigvis</a:t>
            </a:r>
            <a:r>
              <a:rPr dirty="0"/>
              <a:t> </a:t>
            </a:r>
            <a:r>
              <a:rPr lang="da-DK" err="1"/>
              <a:t>ingen</a:t>
            </a:r>
            <a:r>
              <a:rPr dirty="0"/>
              <a:t> </a:t>
            </a:r>
            <a:r>
              <a:rPr lang="da-DK" err="1"/>
              <a:t>modelbrug</a:t>
            </a:r>
            <a:r>
              <a:rPr dirty="0"/>
              <a:t>. Methods: https://lime-ml.readthedocs.io/en/latest/lime.html ; https://github.com/marcotcr/lime/blob/master/lime/lime_base.py ; https://shap.readthedocs.io/en/latest/generated/shap.KernelExplainer.html</a:t>
            </a:r>
          </a:p>
          <a:p>
            <a:endParaRPr dirty="0"/>
          </a:p>
          <a:p>
            <a:r>
              <a:rPr dirty="0"/>
              <a:t>Source: </a:t>
            </a:r>
            <a:r>
              <a:rPr lang="da-DK" err="1"/>
              <a:t>neural_network.ipynb</a:t>
            </a:r>
            <a:r>
              <a:rPr dirty="0"/>
              <a:t>, uploaded 19 Oct 2026. Saved outputs, not a new model run.</a:t>
            </a:r>
          </a:p>
          <a:p>
            <a:r>
              <a:rPr dirty="0"/>
              <a:t>Source: </a:t>
            </a:r>
            <a:r>
              <a:rPr lang="da-DK" err="1"/>
              <a:t>decision_tree.ipynb</a:t>
            </a:r>
            <a:r>
              <a:rPr dirty="0"/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L</a:t>
            </a:r>
          </a:p>
          <a:p>
            <a:endParaRPr lang="da-DK"/>
          </a:p>
          <a:p>
            <a:r>
              <a:t>TID: 60 </a:t>
            </a:r>
            <a:r>
              <a:rPr err="1"/>
              <a:t>sekunder</a:t>
            </a:r>
            <a:r>
              <a:t>.</a:t>
            </a:r>
          </a:p>
          <a:p>
            <a:endParaRPr/>
          </a:p>
          <a:p>
            <a:r>
              <a:rPr err="1"/>
              <a:t>Konklusion</a:t>
            </a:r>
            <a:r>
              <a:t>: NN </a:t>
            </a:r>
            <a:r>
              <a:rPr err="1"/>
              <a:t>har</a:t>
            </a:r>
            <a:r>
              <a:t> </a:t>
            </a:r>
            <a:r>
              <a:rPr err="1"/>
              <a:t>bedste</a:t>
            </a:r>
            <a:r>
              <a:t> </a:t>
            </a:r>
            <a:r>
              <a:rPr err="1"/>
              <a:t>observerede</a:t>
            </a:r>
            <a:r>
              <a:t> test-performance. Træet giver </a:t>
            </a:r>
            <a:r>
              <a:rPr err="1"/>
              <a:t>eksakt</a:t>
            </a:r>
            <a:r>
              <a:t> </a:t>
            </a:r>
            <a:r>
              <a:rPr err="1"/>
              <a:t>beslutningsvej</a:t>
            </a:r>
            <a:r>
              <a:t>. Ingen er </a:t>
            </a:r>
            <a:r>
              <a:rPr err="1"/>
              <a:t>klinisk</a:t>
            </a:r>
            <a:r>
              <a:t> </a:t>
            </a:r>
            <a:r>
              <a:rPr err="1"/>
              <a:t>valideret</a:t>
            </a:r>
            <a:r>
              <a:t>. </a:t>
            </a:r>
            <a:r>
              <a:rPr err="1"/>
              <a:t>Prioriteter</a:t>
            </a:r>
            <a:r>
              <a:t> er </a:t>
            </a:r>
            <a:r>
              <a:rPr err="1"/>
              <a:t>foreslået</a:t>
            </a:r>
            <a:r>
              <a:t> </a:t>
            </a:r>
            <a:r>
              <a:rPr err="1"/>
              <a:t>arbejde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endnu</a:t>
            </a:r>
            <a:r>
              <a:t> </a:t>
            </a:r>
            <a:r>
              <a:rPr err="1"/>
              <a:t>ikke</a:t>
            </a:r>
            <a:r>
              <a:t> </a:t>
            </a:r>
            <a:r>
              <a:rPr err="1"/>
              <a:t>udført</a:t>
            </a:r>
            <a:r>
              <a:t>. </a:t>
            </a:r>
            <a:r>
              <a:rPr err="1"/>
              <a:t>Kræv</a:t>
            </a:r>
            <a:r>
              <a:t> rent </a:t>
            </a:r>
            <a:r>
              <a:rPr err="1"/>
              <a:t>valideringssplit</a:t>
            </a:r>
            <a:r>
              <a:t> </a:t>
            </a:r>
            <a:r>
              <a:rPr err="1"/>
              <a:t>og</a:t>
            </a:r>
            <a:r>
              <a:t> bootstrap-CI </a:t>
            </a:r>
            <a:r>
              <a:rPr err="1"/>
              <a:t>på</a:t>
            </a:r>
            <a:r>
              <a:t> </a:t>
            </a:r>
            <a:r>
              <a:rPr err="1"/>
              <a:t>forskelle</a:t>
            </a:r>
            <a:r>
              <a:t>. </a:t>
            </a:r>
            <a:r>
              <a:rPr err="1"/>
              <a:t>Kalibrering</a:t>
            </a:r>
            <a:r>
              <a:t> </a:t>
            </a:r>
            <a:r>
              <a:rPr err="1"/>
              <a:t>i</a:t>
            </a:r>
            <a:r>
              <a:t> relevant population. </a:t>
            </a:r>
            <a:r>
              <a:rPr err="1"/>
              <a:t>Sammenlign</a:t>
            </a:r>
            <a:r>
              <a:t> Kernel SHAP mod Tree SHAP med </a:t>
            </a:r>
            <a:r>
              <a:rPr err="1"/>
              <a:t>samme</a:t>
            </a:r>
            <a:r>
              <a:t> </a:t>
            </a:r>
            <a:r>
              <a:rPr err="1"/>
              <a:t>baggrund</a:t>
            </a:r>
            <a:r>
              <a:t> </a:t>
            </a:r>
            <a:r>
              <a:rPr err="1"/>
              <a:t>og</a:t>
            </a:r>
            <a:r>
              <a:t> </a:t>
            </a:r>
            <a:r>
              <a:rPr err="1"/>
              <a:t>semantik</a:t>
            </a:r>
            <a:r>
              <a:t>. </a:t>
            </a:r>
            <a:r>
              <a:rPr err="1"/>
              <a:t>Øg</a:t>
            </a:r>
            <a:r>
              <a:t> </a:t>
            </a:r>
            <a:r>
              <a:rPr err="1"/>
              <a:t>baggrund</a:t>
            </a:r>
            <a:r>
              <a:t> </a:t>
            </a:r>
            <a:r>
              <a:rPr err="1"/>
              <a:t>og</a:t>
            </a:r>
            <a:r>
              <a:t> samples </a:t>
            </a:r>
            <a:r>
              <a:rPr err="1"/>
              <a:t>og</a:t>
            </a:r>
            <a:r>
              <a:t> </a:t>
            </a:r>
            <a:r>
              <a:rPr err="1"/>
              <a:t>gentag</a:t>
            </a:r>
            <a:r>
              <a:t> seeds. </a:t>
            </a:r>
            <a:r>
              <a:rPr err="1"/>
              <a:t>Subgruppeanalyse</a:t>
            </a:r>
            <a:r>
              <a:t> mangler. Stop </a:t>
            </a:r>
            <a:r>
              <a:rPr err="1"/>
              <a:t>efter</a:t>
            </a:r>
            <a:r>
              <a:t> </a:t>
            </a:r>
            <a:r>
              <a:rPr err="1"/>
              <a:t>dette</a:t>
            </a:r>
            <a:r>
              <a:t> slide </a:t>
            </a:r>
            <a:r>
              <a:rPr err="1"/>
              <a:t>ved</a:t>
            </a:r>
            <a:r>
              <a:t> 10 </a:t>
            </a:r>
            <a:r>
              <a:rPr err="1"/>
              <a:t>minutter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BACKUP: uden for de 10 minutter.</a:t>
            </a:r>
          </a:p>
          <a:p>
            <a:endParaRPr/>
          </a:p>
          <a:p>
            <a:r>
              <a:t>Ved uenighed: adskil hvad koden faktisk gør fra hypoteser. Methods: https://lime-ml.readthedocs.io/en/latest/lime.html ; https://github.com/marcotcr/lime/blob/master/lime/lime_base.py ; https://shap.readthedocs.io/en/latest/generated/shap.KernelExplainer.html</a:t>
            </a:r>
          </a:p>
          <a:p>
            <a:endParaRPr/>
          </a:p>
          <a:p>
            <a:r>
              <a:t>Source: neural_network.ipynb, uploaded 19 Oct 2026. Saved outputs, not a new model run.</a:t>
            </a:r>
          </a:p>
          <a:p>
            <a:r>
              <a:t>Source: decision_tree.ipynb,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BACKUP: </a:t>
            </a:r>
            <a:r>
              <a:rPr lang="da-DK" err="1"/>
              <a:t>uden</a:t>
            </a:r>
            <a:r>
              <a:t> for de 10 </a:t>
            </a:r>
            <a:r>
              <a:rPr lang="da-DK" err="1"/>
              <a:t>minutter</a:t>
            </a:r>
            <a:r>
              <a:t>.</a:t>
            </a:r>
          </a:p>
          <a:p>
            <a:endParaRPr/>
          </a:p>
          <a:p>
            <a:r>
              <a:t>Variable definitions: https://www.cdc.gov/brfss/annual_data/2015/pdf/codebook15_llcp.pdf ; https://archive.ics.uci.edu/dataset/891/cdc+diabetes+health+indicators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BACKUP: </a:t>
            </a:r>
            <a:r>
              <a:rPr lang="da-DK" err="1"/>
              <a:t>uden</a:t>
            </a:r>
            <a:r>
              <a:t> for de 10 </a:t>
            </a:r>
            <a:r>
              <a:rPr lang="da-DK" err="1"/>
              <a:t>minutter</a:t>
            </a:r>
            <a:r>
              <a:t>.</a:t>
            </a:r>
          </a:p>
          <a:p>
            <a:endParaRPr/>
          </a:p>
          <a:p>
            <a:r>
              <a:t>Variable definitions: https://www.cdc.gov/brfss/annual_data/2015/pdf/codebook15_llcp.pdf ; https://archive.ics.uci.edu/dataset/891/cdc+diabetes+health+indicators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V</a:t>
            </a:r>
          </a:p>
          <a:p>
            <a:endParaRPr lang="da-DK"/>
          </a:p>
          <a:p>
            <a:r>
              <a:t>BACKUP: </a:t>
            </a:r>
            <a:r>
              <a:rPr lang="da-DK" err="1"/>
              <a:t>uden</a:t>
            </a:r>
            <a:r>
              <a:t> for de 10 </a:t>
            </a:r>
            <a:r>
              <a:rPr lang="da-DK" err="1"/>
              <a:t>minutter</a:t>
            </a:r>
            <a:r>
              <a:t>.</a:t>
            </a:r>
          </a:p>
          <a:p>
            <a:endParaRPr/>
          </a:p>
          <a:p>
            <a:r>
              <a:t>Accuracy </a:t>
            </a:r>
            <a:r>
              <a:rPr lang="da-DK" err="1"/>
              <a:t>beregnes</a:t>
            </a:r>
            <a:r>
              <a:t> </a:t>
            </a:r>
            <a:r>
              <a:rPr lang="da-DK" err="1"/>
              <a:t>ud</a:t>
            </a:r>
            <a:r>
              <a:t> </a:t>
            </a:r>
            <a:r>
              <a:rPr lang="da-DK" err="1"/>
              <a:t>fra</a:t>
            </a:r>
            <a:r>
              <a:t> de </a:t>
            </a:r>
            <a:r>
              <a:rPr lang="da-DK" err="1"/>
              <a:t>gemte</a:t>
            </a:r>
            <a:r>
              <a:t> confusion matrices. </a:t>
            </a:r>
            <a:r>
              <a:rPr lang="da-DK" err="1"/>
              <a:t>Øvrige</a:t>
            </a:r>
            <a:r>
              <a:t> </a:t>
            </a:r>
            <a:r>
              <a:rPr lang="da-DK" err="1"/>
              <a:t>tal</a:t>
            </a:r>
            <a:r>
              <a:t> </a:t>
            </a:r>
            <a:r>
              <a:rPr lang="da-DK" err="1"/>
              <a:t>fra</a:t>
            </a:r>
            <a:r>
              <a:t> classification report. Ingen </a:t>
            </a:r>
            <a:r>
              <a:rPr lang="da-DK" err="1"/>
              <a:t>konfidensintervaller</a:t>
            </a:r>
            <a:r>
              <a:t> </a:t>
            </a:r>
            <a:r>
              <a:rPr lang="da-DK" err="1"/>
              <a:t>eller</a:t>
            </a:r>
            <a:r>
              <a:t> McNemar-test er </a:t>
            </a:r>
            <a:r>
              <a:rPr lang="da-DK" err="1"/>
              <a:t>udført</a:t>
            </a:r>
            <a:r>
              <a:t>. Den </a:t>
            </a:r>
            <a:r>
              <a:rPr lang="da-DK" err="1"/>
              <a:t>forskellige</a:t>
            </a:r>
            <a:r>
              <a:t> </a:t>
            </a:r>
            <a:r>
              <a:rPr lang="da-DK" err="1"/>
              <a:t>træningsmængde</a:t>
            </a:r>
            <a:r>
              <a:t> </a:t>
            </a:r>
            <a:r>
              <a:rPr lang="da-DK" err="1"/>
              <a:t>skal</a:t>
            </a:r>
            <a:r>
              <a:t> </a:t>
            </a:r>
            <a:r>
              <a:rPr lang="da-DK" err="1"/>
              <a:t>nævnes</a:t>
            </a:r>
            <a:r>
              <a:t> </a:t>
            </a:r>
            <a:r>
              <a:rPr lang="da-DK" err="1"/>
              <a:t>ved</a:t>
            </a:r>
            <a:r>
              <a:t> </a:t>
            </a:r>
            <a:r>
              <a:rPr lang="da-DK" err="1"/>
              <a:t>sammenligning</a:t>
            </a:r>
            <a:r>
              <a:t>. NN </a:t>
            </a:r>
            <a:r>
              <a:rPr lang="da-DK" err="1"/>
              <a:t>har</a:t>
            </a:r>
            <a:r>
              <a:t> </a:t>
            </a:r>
            <a:r>
              <a:rPr lang="da-DK" err="1"/>
              <a:t>færre</a:t>
            </a:r>
            <a:r>
              <a:t> </a:t>
            </a:r>
            <a:r>
              <a:rPr lang="da-DK" err="1"/>
              <a:t>vægt</a:t>
            </a:r>
            <a:r>
              <a:t>-fit-</a:t>
            </a:r>
            <a:r>
              <a:rPr lang="da-DK" err="1"/>
              <a:t>personer</a:t>
            </a:r>
            <a:r>
              <a:t> </a:t>
            </a:r>
            <a:r>
              <a:rPr lang="da-DK" err="1"/>
              <a:t>pga</a:t>
            </a:r>
            <a:r>
              <a:t> </a:t>
            </a:r>
            <a:r>
              <a:rPr lang="da-DK" err="1"/>
              <a:t>valideringssplit</a:t>
            </a:r>
            <a:r>
              <a:t>.</a:t>
            </a:r>
          </a:p>
          <a:p>
            <a:endParaRPr/>
          </a:p>
          <a:p>
            <a:r>
              <a:t>Source: </a:t>
            </a:r>
            <a:r>
              <a:rPr lang="da-DK" err="1"/>
              <a:t>neural_network.ipynb</a:t>
            </a:r>
            <a:r>
              <a:t>, uploaded 19 Oct 2026. Saved outputs, not a new model run.</a:t>
            </a:r>
          </a:p>
          <a:p>
            <a:r>
              <a:t>Source: </a:t>
            </a:r>
            <a:r>
              <a:rPr lang="da-DK" err="1"/>
              <a:t>decision_tree.ipynb</a:t>
            </a:r>
            <a:r>
              <a:t>, uploaded 19 Oct 2026. Saved outputs, not a new model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1FF017-ACAB-4330-A1BF-B5E5AFF2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C0C772D-C795-4106-B963-242881B27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16BCC1B-B588-4AE6-AE65-311B214A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6A56C2-4269-4C94-984E-7EAB2FD9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0A8F793-A0C4-4FFD-897C-6F382AE15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C6FB03F-D1C0-46C1-9DDC-1B1CA4DF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970EF25-4CC3-4773-84C0-75435E3E8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141A82-1B94-4304-8E10-2AB2DD1CD5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56F0EF-8E34-4579-B602-129686F6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4BEC7C-DF8C-4E07-AD01-BD34E211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1BF378A0-C752-4558-AD6B-6861BE44C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E23C0FAB-BFA1-44D0-A88A-FAC9B477D8AE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5B3FBE6D-472D-4461-A8B4-7DF41D12EF84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Head of data science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0C09B3FB-3ABD-4B81-84B4-E8F27D2FE84E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1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BE33B91E-2D42-4A21-AB2A-92CB60CB7D3F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1047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48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XAI/UX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C50F0658-6065-443F-BD6F-98220C005F0F}"/>
              </a:ext>
            </a:extLst>
          </p:cNvPr>
          <p:cNvSpPr>
            <a:spLocks noGrp="1"/>
          </p:cNvSpPr>
          <p:nvPr/>
        </p:nvSpPr>
        <p:spPr>
          <a:xfrm>
            <a:off x="714375" y="285750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1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Model performance and explanation audit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18C4E750-667E-42F4-85D6-739767FAB94E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Group 12: Rasmus, Victor, Magnus &amp; Louise</a:t>
            </a:r>
          </a:p>
        </p:txBody>
      </p:sp>
    </p:spTree>
    <p:extLst>
      <p:ext uri="{BB962C8B-B14F-4D97-AF65-F5344CB8AC3E}">
        <p14:creationId xmlns:p14="http://schemas.microsoft.com/office/powerpoint/2010/main" val="107346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08AB63A5-328A-40FD-BB7A-C03077C20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1F060E5B-1300-4EE5-B1F8-1DE448670C3E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2937ACD-9CA6-4FAF-95C1-A910DC0BECB6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Data and validation design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BF3861BC-70AC-4C27-AF6A-07B9A107D2A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2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514DE860-3A2E-4816-ADE0-00360C745633}"/>
              </a:ext>
            </a:extLst>
          </p:cNvPr>
          <p:cNvGraphicFramePr/>
          <p:nvPr/>
        </p:nvGraphicFramePr>
        <p:xfrm>
          <a:off x="666750" y="1666875"/>
          <a:ext cx="10858500" cy="3190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Neural network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Decision tree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Inputs / target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21 features / current (pre)diabetes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Same inputs and target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Weight fitting / training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45,242 people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56,553 people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Validation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11,311 people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separate validation split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Held-out test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14,139 people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Same 14,139 people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42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lede 9">
            <a:extLst>
              <a:ext uri="{FF2B5EF4-FFF2-40B4-BE49-F238E27FC236}">
                <a16:creationId xmlns:a16="http://schemas.microsoft.com/office/drawing/2014/main" id="{10095FD2-62A1-444E-A71F-E76A7803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E04D2A4A-026B-42FA-BBB4-2F9EFBE3486F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21192766-E449-444F-9336-8E3FF5FAA451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Model architecture and training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7B8AA6C-AB34-4CD9-A903-B21649366A2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3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CE7B8E55-6C29-4221-B07C-2FCF478101AC}"/>
              </a:ext>
            </a:extLst>
          </p:cNvPr>
          <p:cNvSpPr>
            <a:spLocks noGrp="1"/>
          </p:cNvSpPr>
          <p:nvPr/>
        </p:nvSpPr>
        <p:spPr>
          <a:xfrm>
            <a:off x="662081" y="1238250"/>
            <a:ext cx="1057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21 inputs → 32 hidden units → 1 logit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ED20EEC1-0226-4A13-9D4C-7E2674E5FB9B}"/>
              </a:ext>
            </a:extLst>
          </p:cNvPr>
          <p:cNvSpPr>
            <a:spLocks noGrp="1"/>
          </p:cNvSpPr>
          <p:nvPr/>
        </p:nvSpPr>
        <p:spPr>
          <a:xfrm>
            <a:off x="714375" y="1712632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ReLU in the hidden layer. Sigmoid gives the final score.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B554333-2820-4E2A-8ACE-F7ECEB02A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59712" y="1719169"/>
            <a:ext cx="3989281" cy="2952750"/>
          </a:xfrm>
          <a:prstGeom prst="rect">
            <a:avLst/>
          </a:prstGeom>
        </p:spPr>
      </p:pic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45F142F6-AFE3-47EF-A775-A6730137E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56398"/>
              </p:ext>
            </p:extLst>
          </p:nvPr>
        </p:nvGraphicFramePr>
        <p:xfrm>
          <a:off x="714375" y="2090831"/>
          <a:ext cx="5619750" cy="27622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Training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NN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Optimizer / loss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Adam / BCEWithLogits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Epochs / batch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 / 256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Learning rate / decay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0.001 / 0.0001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Parameters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737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-5">
            <a:extLst>
              <a:ext uri="{FF2B5EF4-FFF2-40B4-BE49-F238E27FC236}">
                <a16:creationId xmlns:a16="http://schemas.microsoft.com/office/drawing/2014/main" id="{6B2F5017-8D3C-4F86-8970-31345E0087A5}"/>
              </a:ext>
            </a:extLst>
          </p:cNvPr>
          <p:cNvSpPr>
            <a:spLocks noGrp="1"/>
          </p:cNvSpPr>
          <p:nvPr/>
        </p:nvSpPr>
        <p:spPr>
          <a:xfrm>
            <a:off x="662081" y="5207934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 sz="28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Tree: depth ≤ 4, ≥ 100 samples per leaf</a:t>
            </a:r>
          </a:p>
        </p:txBody>
      </p:sp>
    </p:spTree>
    <p:extLst>
      <p:ext uri="{BB962C8B-B14F-4D97-AF65-F5344CB8AC3E}">
        <p14:creationId xmlns:p14="http://schemas.microsoft.com/office/powerpoint/2010/main" val="127539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>
            <a:extLst>
              <a:ext uri="{FF2B5EF4-FFF2-40B4-BE49-F238E27FC236}">
                <a16:creationId xmlns:a16="http://schemas.microsoft.com/office/drawing/2014/main" id="{2B726EBE-588A-4951-9E11-B336924ED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C5E5A345-40B6-4CB3-8445-35C4DF45194E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F726131B-1AB7-4FF3-B68B-E76906D29F3D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Held-out performance and error costs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2C10D771-8D7E-428D-B2B6-2027E8717101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4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3D134BBB-B474-427C-800C-A71798D946D8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Neural network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E3AE995-A0B5-4745-8702-EF3CF0721AE6}"/>
              </a:ext>
            </a:extLst>
          </p:cNvPr>
          <p:cNvSpPr>
            <a:spLocks noGrp="1"/>
          </p:cNvSpPr>
          <p:nvPr/>
        </p:nvSpPr>
        <p:spPr>
          <a:xfrm>
            <a:off x="7048500" y="15240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Decision tree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2D393D2-859E-44B5-AED2-E087A9C1E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08691" y="2000250"/>
            <a:ext cx="3954868" cy="338137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BAF02B03-108D-4456-889F-1D94642F1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928441" y="2000250"/>
            <a:ext cx="3954868" cy="3381375"/>
          </a:xfrm>
          <a:prstGeom prst="rect">
            <a:avLst/>
          </a:prstGeom>
        </p:spPr>
      </p:pic>
      <p:sp>
        <p:nvSpPr>
          <p:cNvPr id="9" name="text-5">
            <a:extLst>
              <a:ext uri="{FF2B5EF4-FFF2-40B4-BE49-F238E27FC236}">
                <a16:creationId xmlns:a16="http://schemas.microsoft.com/office/drawing/2014/main" id="{CF2C65F5-29E1-494D-A98E-2A70886C50F5}"/>
              </a:ext>
            </a:extLst>
          </p:cNvPr>
          <p:cNvSpPr>
            <a:spLocks noGrp="1"/>
          </p:cNvSpPr>
          <p:nvPr/>
        </p:nvSpPr>
        <p:spPr>
          <a:xfrm>
            <a:off x="714375" y="5619750"/>
            <a:ext cx="523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Accuracy 75.21%   ROC-AUC 0.830</a:t>
            </a:r>
          </a:p>
        </p:txBody>
      </p:sp>
      <p:sp>
        <p:nvSpPr>
          <p:cNvPr id="10" name="text-6">
            <a:extLst>
              <a:ext uri="{FF2B5EF4-FFF2-40B4-BE49-F238E27FC236}">
                <a16:creationId xmlns:a16="http://schemas.microsoft.com/office/drawing/2014/main" id="{F01FF52C-9CE0-4A3F-BA35-704EEEE7B691}"/>
              </a:ext>
            </a:extLst>
          </p:cNvPr>
          <p:cNvSpPr>
            <a:spLocks noGrp="1"/>
          </p:cNvSpPr>
          <p:nvPr/>
        </p:nvSpPr>
        <p:spPr>
          <a:xfrm>
            <a:off x="6334125" y="5619750"/>
            <a:ext cx="523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Accuracy 72.68%   ROC-AUC 0.795</a:t>
            </a:r>
          </a:p>
        </p:txBody>
      </p:sp>
      <p:sp>
        <p:nvSpPr>
          <p:cNvPr id="11" name="text-7">
            <a:extLst>
              <a:ext uri="{FF2B5EF4-FFF2-40B4-BE49-F238E27FC236}">
                <a16:creationId xmlns:a16="http://schemas.microsoft.com/office/drawing/2014/main" id="{E0FB23D8-2042-4146-B3CD-57B3A93276BC}"/>
              </a:ext>
            </a:extLst>
          </p:cNvPr>
          <p:cNvSpPr>
            <a:spLocks noGrp="1"/>
          </p:cNvSpPr>
          <p:nvPr/>
        </p:nvSpPr>
        <p:spPr>
          <a:xfrm>
            <a:off x="714375" y="6048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Threshold 0.5. Rows = actual label. Columns = predicted label.</a:t>
            </a:r>
          </a:p>
        </p:txBody>
      </p:sp>
    </p:spTree>
    <p:extLst>
      <p:ext uri="{BB962C8B-B14F-4D97-AF65-F5344CB8AC3E}">
        <p14:creationId xmlns:p14="http://schemas.microsoft.com/office/powerpoint/2010/main" val="213723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lede 9">
            <a:extLst>
              <a:ext uri="{FF2B5EF4-FFF2-40B4-BE49-F238E27FC236}">
                <a16:creationId xmlns:a16="http://schemas.microsoft.com/office/drawing/2014/main" id="{50A62C5B-B037-47FF-AA15-3EAD201B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664FFF14-C3E8-4534-BD92-395D9B23360B}"/>
              </a:ext>
            </a:extLst>
          </p:cNvPr>
          <p:cNvSpPr>
            <a:spLocks noGrp="1"/>
          </p:cNvSpPr>
          <p:nvPr/>
        </p:nvSpPr>
        <p:spPr>
          <a:xfrm>
            <a:off x="340846" y="117288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90B582A3-05AC-486C-8660-8B9564926F75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Global explanation: converging priorities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A0C1602E-7E50-4595-8CED-5331799A511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5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0FAD811-6420-41C6-8CA3-7131D3B51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8111" y="946897"/>
            <a:ext cx="4301027" cy="5056654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7FAB9512-9477-40C9-90E7-99347EBF0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8630" y="1631390"/>
            <a:ext cx="5954211" cy="3690470"/>
          </a:xfrm>
          <a:prstGeom prst="rect">
            <a:avLst/>
          </a:prstGeom>
        </p:spPr>
      </p:pic>
      <p:sp>
        <p:nvSpPr>
          <p:cNvPr id="7" name="text-3">
            <a:extLst>
              <a:ext uri="{FF2B5EF4-FFF2-40B4-BE49-F238E27FC236}">
                <a16:creationId xmlns:a16="http://schemas.microsoft.com/office/drawing/2014/main" id="{3C66019E-406F-4111-8F4B-1585329B25F0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NN: mean |SHAP|, 40 test people</a:t>
            </a:r>
          </a:p>
        </p:txBody>
      </p:sp>
      <p:sp>
        <p:nvSpPr>
          <p:cNvPr id="8" name="text-4">
            <a:extLst>
              <a:ext uri="{FF2B5EF4-FFF2-40B4-BE49-F238E27FC236}">
                <a16:creationId xmlns:a16="http://schemas.microsoft.com/office/drawing/2014/main" id="{95BE2044-2FC3-4EBF-919A-A0674AD84ED7}"/>
              </a:ext>
            </a:extLst>
          </p:cNvPr>
          <p:cNvSpPr>
            <a:spLocks noGrp="1"/>
          </p:cNvSpPr>
          <p:nvPr/>
        </p:nvSpPr>
        <p:spPr>
          <a:xfrm>
            <a:off x="5238750" y="557212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Tree: ROC-AUC drop after permutation</a:t>
            </a:r>
          </a:p>
        </p:txBody>
      </p:sp>
      <p:sp>
        <p:nvSpPr>
          <p:cNvPr id="9" name="text-5">
            <a:extLst>
              <a:ext uri="{FF2B5EF4-FFF2-40B4-BE49-F238E27FC236}">
                <a16:creationId xmlns:a16="http://schemas.microsoft.com/office/drawing/2014/main" id="{7123450F-B6F0-48CE-8958-5E3736A20A0A}"/>
              </a:ext>
            </a:extLst>
          </p:cNvPr>
          <p:cNvSpPr>
            <a:spLocks noGrp="1"/>
          </p:cNvSpPr>
          <p:nvPr/>
        </p:nvSpPr>
        <p:spPr>
          <a:xfrm>
            <a:off x="5238750" y="6048375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Agreement in priorities does not validate local explanations.</a:t>
            </a:r>
          </a:p>
        </p:txBody>
      </p:sp>
    </p:spTree>
    <p:extLst>
      <p:ext uri="{BB962C8B-B14F-4D97-AF65-F5344CB8AC3E}">
        <p14:creationId xmlns:p14="http://schemas.microsoft.com/office/powerpoint/2010/main" val="42718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4347E215-2781-4E65-90B8-56184641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474D373D-34D6-4D3B-B5F5-4F176D98796E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33641443-10C6-4302-9D61-A79412A2C48E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Error audit: high confidence can be wrong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70FC5B6F-4995-4F5A-89B9-F14B66509AD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6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9CB7E1AB-14AE-4D96-94F7-D22A656EFC9A}"/>
              </a:ext>
            </a:extLst>
          </p:cNvPr>
          <p:cNvGraphicFramePr/>
          <p:nvPr/>
        </p:nvGraphicFramePr>
        <p:xfrm>
          <a:off x="666750" y="1762125"/>
          <a:ext cx="10858500" cy="31432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Model / row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Actual label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Model score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Error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NN / 3439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0.9679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positive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NN / 66055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0.0069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negative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Tree / 30163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0.8526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positive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Tree / 67337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0.0584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negative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3">
            <a:extLst>
              <a:ext uri="{FF2B5EF4-FFF2-40B4-BE49-F238E27FC236}">
                <a16:creationId xmlns:a16="http://schemas.microsoft.com/office/drawing/2014/main" id="{C3666A9A-FA94-4A94-843F-DC07AE3554A6}"/>
              </a:ext>
            </a:extLst>
          </p:cNvPr>
          <p:cNvSpPr>
            <a:spLocks noGrp="1"/>
          </p:cNvSpPr>
          <p:nvPr/>
        </p:nvSpPr>
        <p:spPr>
          <a:xfrm>
            <a:off x="714375" y="5238750"/>
            <a:ext cx="1057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These cases have no saved local LIME or SHAP explanations.</a:t>
            </a:r>
          </a:p>
        </p:txBody>
      </p:sp>
      <p:sp>
        <p:nvSpPr>
          <p:cNvPr id="7" name="text-4">
            <a:extLst>
              <a:ext uri="{FF2B5EF4-FFF2-40B4-BE49-F238E27FC236}">
                <a16:creationId xmlns:a16="http://schemas.microsoft.com/office/drawing/2014/main" id="{3BC77217-9117-4616-96AF-A49E121140A2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57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 sz="1850"/>
              <a:t>Future work</a:t>
            </a:r>
            <a:r>
              <a:rPr sz="18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: explain these errors and compare error rates across groups.</a:t>
            </a:r>
          </a:p>
        </p:txBody>
      </p:sp>
    </p:spTree>
    <p:extLst>
      <p:ext uri="{BB962C8B-B14F-4D97-AF65-F5344CB8AC3E}">
        <p14:creationId xmlns:p14="http://schemas.microsoft.com/office/powerpoint/2010/main" val="23797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>
            <a:extLst>
              <a:ext uri="{FF2B5EF4-FFF2-40B4-BE49-F238E27FC236}">
                <a16:creationId xmlns:a16="http://schemas.microsoft.com/office/drawing/2014/main" id="{0B034C58-AD36-4423-B26C-C08D02A2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00D2E056-5E71-494A-B565-23386363D4AC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531A331-5D32-4429-B15E-7422B83E3CE8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One shared test person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774B05E4-FE44-4FED-8610-A5F3415060AD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7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5EF7FFB-058A-4125-A95D-16B8E862EC3E}"/>
              </a:ext>
            </a:extLst>
          </p:cNvPr>
          <p:cNvGraphicFramePr/>
          <p:nvPr/>
        </p:nvGraphicFramePr>
        <p:xfrm>
          <a:off x="714375" y="1666875"/>
          <a:ext cx="6191250" cy="3714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Reference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Person 57608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Actual label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1: prediabetes or diabetes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BMI / age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53 / 65–69 years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General health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Fair (GenHlth = 4)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Blood pressure / cholesterol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Both reported high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NN / tree score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0.8854 / 0.8526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">
            <a:extLst>
              <a:ext uri="{FF2B5EF4-FFF2-40B4-BE49-F238E27FC236}">
                <a16:creationId xmlns:a16="http://schemas.microsoft.com/office/drawing/2014/main" id="{F72EBE48-92C3-4794-BF45-7D034EF7CD33}"/>
              </a:ext>
            </a:extLst>
          </p:cNvPr>
          <p:cNvSpPr>
            <a:spLocks noGrp="1"/>
          </p:cNvSpPr>
          <p:nvPr/>
        </p:nvSpPr>
        <p:spPr>
          <a:xfrm>
            <a:off x="7429500" y="17145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Exact tree path</a:t>
            </a:r>
          </a:p>
        </p:txBody>
      </p:sp>
      <p:sp>
        <p:nvSpPr>
          <p:cNvPr id="7" name="text-4">
            <a:extLst>
              <a:ext uri="{FF2B5EF4-FFF2-40B4-BE49-F238E27FC236}">
                <a16:creationId xmlns:a16="http://schemas.microsoft.com/office/drawing/2014/main" id="{C6E87001-91E7-4754-9998-B0F5A75CED4E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 dirty="0" err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GenHlth</a:t>
            </a:r>
            <a:r>
              <a:rPr sz="2175" b="0" dirty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&gt; 2</a:t>
            </a:r>
            <a:r>
              <a:rPr lang="da-DK" sz="2175" b="0" dirty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.5</a:t>
            </a:r>
            <a:endParaRPr sz="2175" b="0" dirty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262B5CDE-FB2C-4CA7-93B5-0E3E88FEDB3E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 dirty="0" err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HighBP</a:t>
            </a:r>
            <a:r>
              <a:rPr sz="2175" b="0" dirty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&gt; 0.5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7CB96FA3-8DC7-4464-9CC3-BEFB97F30722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 dirty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BMI &gt; 3</a:t>
            </a:r>
            <a:r>
              <a:rPr lang="da-DK" dirty="0"/>
              <a:t>1.5</a:t>
            </a:r>
            <a:endParaRPr sz="2175" b="0" dirty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DEE17745-F2F9-4313-BE4D-ED5479AA46E1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HighChol &gt; 0.5</a:t>
            </a:r>
          </a:p>
        </p:txBody>
      </p:sp>
      <p:sp>
        <p:nvSpPr>
          <p:cNvPr id="11" name="text-8">
            <a:extLst>
              <a:ext uri="{FF2B5EF4-FFF2-40B4-BE49-F238E27FC236}">
                <a16:creationId xmlns:a16="http://schemas.microsoft.com/office/drawing/2014/main" id="{03854345-DC11-43D5-9FAF-652ED8FDA15E}"/>
              </a:ext>
            </a:extLst>
          </p:cNvPr>
          <p:cNvSpPr>
            <a:spLocks noGrp="1"/>
          </p:cNvSpPr>
          <p:nvPr/>
        </p:nvSpPr>
        <p:spPr>
          <a:xfrm>
            <a:off x="714375" y="5762625"/>
            <a:ext cx="1066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Correctly classified by both models</a:t>
            </a:r>
          </a:p>
        </p:txBody>
      </p:sp>
    </p:spTree>
    <p:extLst>
      <p:ext uri="{BB962C8B-B14F-4D97-AF65-F5344CB8AC3E}">
        <p14:creationId xmlns:p14="http://schemas.microsoft.com/office/powerpoint/2010/main" val="144698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>
            <a:extLst>
              <a:ext uri="{FF2B5EF4-FFF2-40B4-BE49-F238E27FC236}">
                <a16:creationId xmlns:a16="http://schemas.microsoft.com/office/drawing/2014/main" id="{B7EA706A-7FCD-4EB8-9DD6-D39DDCCE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3897B628-DEDA-4ACE-B194-9DE0B57F80C8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271ECFDB-8D11-4B00-B0FE-A776674A3918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LIME: stable rankings, limited fidelity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B612F08-27C7-4BD5-9835-1E70CBE7E93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8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38A24BF-B986-409D-8196-CC991D411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7807" y="1714500"/>
            <a:ext cx="5553886" cy="4143375"/>
          </a:xfrm>
          <a:prstGeom prst="rect">
            <a:avLst/>
          </a:prstGeom>
        </p:spPr>
      </p:pic>
      <p:sp>
        <p:nvSpPr>
          <p:cNvPr id="6" name="text-3">
            <a:extLst>
              <a:ext uri="{FF2B5EF4-FFF2-40B4-BE49-F238E27FC236}">
                <a16:creationId xmlns:a16="http://schemas.microsoft.com/office/drawing/2014/main" id="{887A16D1-5B7F-4A76-8D93-C72528678316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Weighted Ridge surrogate</a:t>
            </a:r>
          </a:p>
        </p:txBody>
      </p:sp>
      <p:sp>
        <p:nvSpPr>
          <p:cNvPr id="7" name="text-4">
            <a:extLst>
              <a:ext uri="{FF2B5EF4-FFF2-40B4-BE49-F238E27FC236}">
                <a16:creationId xmlns:a16="http://schemas.microsoft.com/office/drawing/2014/main" id="{F88685C4-A2A9-4A20-B9F6-5CAF4FD757FC}"/>
              </a:ext>
            </a:extLst>
          </p:cNvPr>
          <p:cNvSpPr>
            <a:spLocks noGrp="1"/>
          </p:cNvSpPr>
          <p:nvPr/>
        </p:nvSpPr>
        <p:spPr>
          <a:xfrm>
            <a:off x="7239000" y="2428875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3,000 perturbations</a:t>
            </a: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10 selected features</a:t>
            </a:r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B6D9D9A4-2EAB-4E61-A8A9-BF04AC5DD1CF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Local R²: NN 0.479</a:t>
            </a: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/>
              <a:t>      </a:t>
            </a: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Tree 0.450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C9D5E3B0-36E9-495A-886C-A732D525A577}"/>
              </a:ext>
            </a:extLst>
          </p:cNvPr>
          <p:cNvSpPr>
            <a:spLocks noGrp="1"/>
          </p:cNvSpPr>
          <p:nvPr/>
        </p:nvSpPr>
        <p:spPr>
          <a:xfrm>
            <a:off x="7239000" y="4524375"/>
            <a:ext cx="4286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20 NN runs: mean R² 0.465</a:t>
            </a: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/>
              <a:t>Mean </a:t>
            </a:r>
            <a:r>
              <a:rPr lang="da-DK" err="1"/>
              <a:t>local</a:t>
            </a:r>
            <a:r>
              <a:rPr lang="da-DK"/>
              <a:t> </a:t>
            </a:r>
            <a:r>
              <a:rPr lang="da-DK" err="1"/>
              <a:t>error</a:t>
            </a:r>
            <a:r>
              <a: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 12.31 </a:t>
            </a:r>
            <a:r>
              <a:rPr lang="da-DK"/>
              <a:t>%</a:t>
            </a:r>
            <a:endParaRPr sz="1950" b="0">
              <a:solidFill>
                <a:srgbClr val="08205E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lang="da-DK"/>
              <a:t>Local Fidelity: 45 %</a:t>
            </a:r>
          </a:p>
          <a:p>
            <a:pPr>
              <a:defRPr sz="1950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endParaRPr lang="da-DK"/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9690C6D9-C356-425F-A3EB-1089FA631E8A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Repeated explanations can agree and still approximate the model poorly.</a:t>
            </a:r>
          </a:p>
        </p:txBody>
      </p:sp>
      <p:graphicFrame>
        <p:nvGraphicFramePr>
          <p:cNvPr id="15" name="Tabel 14">
            <a:extLst>
              <a:ext uri="{FF2B5EF4-FFF2-40B4-BE49-F238E27FC236}">
                <a16:creationId xmlns:a16="http://schemas.microsoft.com/office/drawing/2014/main" id="{AC2CE1AE-59C8-7FDD-8288-0213F8FF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90621"/>
              </p:ext>
            </p:extLst>
          </p:nvPr>
        </p:nvGraphicFramePr>
        <p:xfrm>
          <a:off x="0" y="3310890"/>
          <a:ext cx="12192000" cy="2362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69261468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785765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a-DK" sz="105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da-DK" sz="105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845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399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lede 9">
            <a:extLst>
              <a:ext uri="{FF2B5EF4-FFF2-40B4-BE49-F238E27FC236}">
                <a16:creationId xmlns:a16="http://schemas.microsoft.com/office/drawing/2014/main" id="{D5A470C3-9478-489C-9C37-731DECCBD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37987BB1-4F75-4A3D-BD45-9E653264FF6F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4ADC1E93-93E9-4327-B0BD-948BA3CAA817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Kernel SHAP: the same person, two models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F96D158C-0DE7-4DC3-9BFC-3C354732DE47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9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66C16F25-DD4E-4C06-9449-7F1C762D3B99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Neural network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194796A1-6146-47B8-B80C-CDEA69F0EDDB}"/>
              </a:ext>
            </a:extLst>
          </p:cNvPr>
          <p:cNvSpPr>
            <a:spLocks noGrp="1"/>
          </p:cNvSpPr>
          <p:nvPr/>
        </p:nvSpPr>
        <p:spPr>
          <a:xfrm>
            <a:off x="6858000" y="15240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Decision tree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71CE81C8-3B2F-4EC9-BBE2-51A4EAA19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6896" y="1952625"/>
            <a:ext cx="4598458" cy="3762375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7710DEF6-479F-40C3-8D23-D6B116749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06646" y="1952625"/>
            <a:ext cx="4598458" cy="3762375"/>
          </a:xfrm>
          <a:prstGeom prst="rect">
            <a:avLst/>
          </a:prstGeom>
        </p:spPr>
      </p:pic>
      <p:sp>
        <p:nvSpPr>
          <p:cNvPr id="9" name="text-5">
            <a:extLst>
              <a:ext uri="{FF2B5EF4-FFF2-40B4-BE49-F238E27FC236}">
                <a16:creationId xmlns:a16="http://schemas.microsoft.com/office/drawing/2014/main" id="{D9664E4E-65C8-424D-BF75-A74FBA94E561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50 background rows. 200 coalition samples. Additivity alone is not validation.</a:t>
            </a:r>
          </a:p>
        </p:txBody>
      </p:sp>
    </p:spTree>
    <p:extLst>
      <p:ext uri="{BB962C8B-B14F-4D97-AF65-F5344CB8AC3E}">
        <p14:creationId xmlns:p14="http://schemas.microsoft.com/office/powerpoint/2010/main" val="18778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689C7FCB-BDEA-404D-B12C-7A80A0257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AE17BA86-9973-47ED-A53C-1D20D36CD301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16AFCDA0-070E-47E6-B7A0-7B2EDF860180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Technical decision and validation priorities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A4D91F9-6446-4E53-89DF-4B7473DAD778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1 Data science   /   10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51D39B65-9B61-4A7E-849C-9DC4BCCF404F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NN has the stronger observed test performance.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41785E4-1F7C-4C28-B75F-2E18F2D3FAC8}"/>
              </a:ext>
            </a:extLst>
          </p:cNvPr>
          <p:cNvSpPr>
            <a:spLocks noGrp="1"/>
          </p:cNvSpPr>
          <p:nvPr/>
        </p:nvSpPr>
        <p:spPr>
          <a:xfrm>
            <a:off x="714375" y="261937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LIME fidelity is too limited for precise patient claims.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21148FA9-0B71-416F-BD95-F2F5BA8FC594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Next: clean validation split, uncertainty and subgroup error analysis.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7FBB548-7982-4DC2-9C2B-D0E7C617FB56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Next: calibration, SHAP stability and exact tree-based checks.</a:t>
            </a:r>
          </a:p>
        </p:txBody>
      </p:sp>
    </p:spTree>
    <p:extLst>
      <p:ext uri="{BB962C8B-B14F-4D97-AF65-F5344CB8AC3E}">
        <p14:creationId xmlns:p14="http://schemas.microsoft.com/office/powerpoint/2010/main" val="91606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4125186D-5715-4CD9-9E11-90B90A6F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E13AF946-8BB8-4C4E-AE35-24F6C3FD3232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054D8D69-FBC0-4074-893E-46502449CD53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Q&amp;A: likely technical questions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1826AD3B-0E79-47C3-AD72-ABAD7DDA706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11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A094CA5-9681-413B-94B5-60BD28523C4A}"/>
              </a:ext>
            </a:extLst>
          </p:cNvPr>
          <p:cNvGraphicFramePr/>
          <p:nvPr/>
        </p:nvGraphicFramePr>
        <p:xfrm>
          <a:off x="666750" y="1666875"/>
          <a:ext cx="10858500" cy="4000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Question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Evidence-based answer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do LIME and SHAP disagree?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Different objectives, reference schemes and approximations. Agreement is not proof.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can an unused tree feature matter?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 fitted approximation can assign spurious contributions. Check the exact tree.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Does correct SHAP summation prove fidelity?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No. Additivity constrains the sum, not the accuracy of every attribution.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79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823078BC-25EA-445D-850B-E1EA7C1FE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BBB8622E-AFC3-4E2C-86DB-9307FADD8CB5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5E5B4153-81FF-41C4-A509-A9397A958419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Reference person: all raw inputs (1/2)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F529E03E-73C6-46E7-9E5D-2126330056B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12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FA4302C0-1F37-4204-BB05-E8609A03FC21}"/>
              </a:ext>
            </a:extLst>
          </p:cNvPr>
          <p:cNvGraphicFramePr/>
          <p:nvPr/>
        </p:nvGraphicFramePr>
        <p:xfrm>
          <a:off x="666750" y="1571625"/>
          <a:ext cx="10858500" cy="4381498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31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Feature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Value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Meaning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HighBP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 blood pressure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HighChol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 cholesterol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CholCheck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Cholesterol check within 5 years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BMI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53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Body mass index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Smoker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Fewer than 100 cigarettes in lifetime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Stroke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reported stroke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HeartDiseaseorAttack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reported CHD or heart attack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PhysActivity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leisure physical activity in past 30 days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Fruits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Fruit less than once per day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Veggies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Vegetables at least once per day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31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8734A147-7A9F-4DBF-B388-D7B23522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B2FCDBE5-0738-4AB2-9C91-CA6255F8A605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7A671C68-25FD-4035-B821-668EF4755B62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Reference person: all raw inputs (2/2)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57360DFA-56F7-458F-B8E5-19DF00BE1609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13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FA137694-F84D-4502-8C93-3D0A9F1FBFCC}"/>
              </a:ext>
            </a:extLst>
          </p:cNvPr>
          <p:cNvGraphicFramePr/>
          <p:nvPr/>
        </p:nvGraphicFramePr>
        <p:xfrm>
          <a:off x="666750" y="1571625"/>
          <a:ext cx="10858500" cy="4381498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31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Feature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Value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Meaning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HvyAlcoholConsump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Below the high-consumption category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AnyHealthcare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Has healthcare coverage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NoDocbcCost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Cost prevented needed doctor visit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GenHlth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Fair self-reported health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MentHlth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 days of poor mental health in past 30 days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PhysHlth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days of poor physical health in past 30 days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DiffWalk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Serious difficulty walking or climbing stairs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Sex / Age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 / 10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Female / age 65–69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Education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 school graduate or GED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31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Income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Annual household income $20,000–&lt;$25,000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51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C4ECB320-CEC3-4BFC-B79C-6056BF01E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content-background">
            <a:extLst>
              <a:ext uri="{FF2B5EF4-FFF2-40B4-BE49-F238E27FC236}">
                <a16:creationId xmlns:a16="http://schemas.microsoft.com/office/drawing/2014/main" id="{753F5802-D6B6-4D55-A723-579206B27280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11525250" cy="6324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8A1E3711-5388-45BB-B2B0-647C1D42333A}"/>
              </a:ext>
            </a:extLst>
          </p:cNvPr>
          <p:cNvSpPr>
            <a:spLocks noGrp="1"/>
          </p:cNvSpPr>
          <p:nvPr/>
        </p:nvSpPr>
        <p:spPr>
          <a:xfrm>
            <a:off x="666750" y="542925"/>
            <a:ext cx="1085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08205E"/>
                </a:solidFill>
                <a:latin typeface="Nimbus Sans"/>
                <a:ea typeface="Nimbus Sans"/>
                <a:cs typeface="Nimbus Sans"/>
              </a:rPr>
              <a:t>Model comparison and uncertainty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4A46FDAD-03EE-49C8-9944-6A25CDD7B226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46536A"/>
                </a:solidFill>
                <a:latin typeface="Nimbus Sans"/>
                <a:ea typeface="Nimbus Sans"/>
                <a:cs typeface="Nimbus Sans"/>
              </a:rPr>
              <a:t>Q&amp;A backup   /   14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DFF25CA1-5C9F-4589-B1B3-5CD3A73D3516}"/>
              </a:ext>
            </a:extLst>
          </p:cNvPr>
          <p:cNvGraphicFramePr/>
          <p:nvPr/>
        </p:nvGraphicFramePr>
        <p:xfrm>
          <a:off x="666750" y="1666875"/>
          <a:ext cx="10858500" cy="4095749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Held-out metric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Neural network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Decision tree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>
                      <a:solidFill>
                        <a:srgbClr val="D5DEEF"/>
                      </a:solidFill>
                      <a:prstDash val="soli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3B5D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Accuracy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75.21%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72.68%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ROC-AUC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0.830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0.795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Average precision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0.805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0.752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Brier score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0.167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0.182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negatives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1,397 / 7,069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1,574 / 7,069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False positives</a:t>
                      </a:r>
                    </a:p>
                  </a:txBody>
                  <a:tcPr>
                    <a:lnL w="9525">
                      <a:solidFill>
                        <a:srgbClr val="D5DEEF"/>
                      </a:solidFill>
                      <a:prstDash val="soli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2,108 / 7,070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8205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2,289 / 7,070</a:t>
                      </a:r>
                    </a:p>
                  </a:txBody>
                  <a:tcPr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F"/>
                      </a:solidFill>
                      <a:prstDash val="soli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8734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66210FB7603644BA89CDF73087CF3B" ma:contentTypeVersion="4" ma:contentTypeDescription="Opret et nyt dokument." ma:contentTypeScope="" ma:versionID="f366180421eab59cc74bccfbcb16071b">
  <xsd:schema xmlns:xsd="http://www.w3.org/2001/XMLSchema" xmlns:xs="http://www.w3.org/2001/XMLSchema" xmlns:p="http://schemas.microsoft.com/office/2006/metadata/properties" xmlns:ns3="c2999db3-9949-4bfb-ab4b-ba71da51ce21" targetNamespace="http://schemas.microsoft.com/office/2006/metadata/properties" ma:root="true" ma:fieldsID="256ad5dec3792b2ddbe184fc55bc7435" ns3:_="">
    <xsd:import namespace="c2999db3-9949-4bfb-ab4b-ba71da51ce2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99db3-9949-4bfb-ab4b-ba71da51ce2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908E03-17C6-45F5-8BE1-04B5122E98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572E52-E40E-44DD-BD85-B6FE19D4564B}">
  <ds:schemaRefs>
    <ds:schemaRef ds:uri="http://www.w3.org/XML/1998/namespace"/>
    <ds:schemaRef ds:uri="c2999db3-9949-4bfb-ab4b-ba71da51ce2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566BADF-9ED5-455F-B9D2-5436D1ACE3E4}">
  <ds:schemaRefs>
    <ds:schemaRef ds:uri="c2999db3-9949-4bfb-ab4b-ba71da51ce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2642</Words>
  <Application>Microsoft Office PowerPoint</Application>
  <PresentationFormat>Widescreen</PresentationFormat>
  <Paragraphs>327</Paragraphs>
  <Slides>14</Slides>
  <Notes>14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8" baseType="lpstr">
      <vt:lpstr>Aptos</vt:lpstr>
      <vt:lpstr>Nimbus Sans</vt:lpstr>
      <vt:lpstr>Segoe WPC</vt:lpstr>
      <vt:lpstr>ChatGPT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Magnus Lau Ovesen</cp:lastModifiedBy>
  <cp:revision>1</cp:revision>
  <dcterms:created xsi:type="dcterms:W3CDTF">2026-10-19T10:16:59Z</dcterms:created>
  <dcterms:modified xsi:type="dcterms:W3CDTF">2026-10-19T13:17:46Z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0x010100B466210FB7603644BA89CDF73087CF3B</vt:lpwstr>
  </property>
</Properties>
</file>