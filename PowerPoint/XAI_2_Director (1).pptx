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5"/>
  </p:notesMasterIdLst>
  <p:sldIdLst>
    <p:sldId id="256" r:id="rId5"/>
    <p:sldId id="257" r:id="rId6"/>
    <p:sldId id="258" r:id="rId7"/>
    <p:sldId id="260" r:id="rId8"/>
    <p:sldId id="259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614D3B-5AB2-B805-AD85-99A466C48A03}" v="2" dt="2026-10-19T11:12:26.018"/>
    <p1510:client id="{A18C5554-018E-4E41-97C3-C4630F5C830C}" v="44" dt="2026-10-19T11:20:34.698"/>
    <p1510:client id="{F2E6B39E-CC19-BCB5-84A4-3E664A610D8F}" v="153" dt="2026-10-19T13:08:05.0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60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uise Seedorff" userId="S::s246273@dtu.dk::289f7392-c927-4d47-8002-3b155d365b10" providerId="AD" clId="Web-{6E614D3B-5AB2-B805-AD85-99A466C48A03}"/>
    <pc:docChg chg="modSld">
      <pc:chgData name="Louise Seedorff" userId="S::s246273@dtu.dk::289f7392-c927-4d47-8002-3b155d365b10" providerId="AD" clId="Web-{6E614D3B-5AB2-B805-AD85-99A466C48A03}" dt="2026-10-19T11:12:26.018" v="1" actId="1076"/>
      <pc:docMkLst>
        <pc:docMk/>
      </pc:docMkLst>
      <pc:sldChg chg="modSp">
        <pc:chgData name="Louise Seedorff" userId="S::s246273@dtu.dk::289f7392-c927-4d47-8002-3b155d365b10" providerId="AD" clId="Web-{6E614D3B-5AB2-B805-AD85-99A466C48A03}" dt="2026-10-19T11:12:26.018" v="1" actId="1076"/>
        <pc:sldMkLst>
          <pc:docMk/>
          <pc:sldMk cId="1671469236" sldId="258"/>
        </pc:sldMkLst>
        <pc:spChg chg="mod">
          <ac:chgData name="Louise Seedorff" userId="S::s246273@dtu.dk::289f7392-c927-4d47-8002-3b155d365b10" providerId="AD" clId="Web-{6E614D3B-5AB2-B805-AD85-99A466C48A03}" dt="2026-10-19T11:12:26.018" v="1" actId="1076"/>
          <ac:spMkLst>
            <pc:docMk/>
            <pc:sldMk cId="1671469236" sldId="258"/>
            <ac:spMk id="7" creationId="{30B93710-3875-4333-BDC3-E83D1E557415}"/>
          </ac:spMkLst>
        </pc:spChg>
      </pc:sldChg>
    </pc:docChg>
  </pc:docChgLst>
  <pc:docChgLst>
    <pc:chgData name="Victor Birkefeldt Carstens" userId="S::s256191@dtu.dk::1ee44ff6-02af-40b0-887d-3566f46ee20c" providerId="AD" clId="Web-{F2E6B39E-CC19-BCB5-84A4-3E664A610D8F}"/>
    <pc:docChg chg="modSld sldOrd">
      <pc:chgData name="Victor Birkefeldt Carstens" userId="S::s256191@dtu.dk::1ee44ff6-02af-40b0-887d-3566f46ee20c" providerId="AD" clId="Web-{F2E6B39E-CC19-BCB5-84A4-3E664A610D8F}" dt="2026-10-19T13:08:09.847" v="177"/>
      <pc:docMkLst>
        <pc:docMk/>
      </pc:docMkLst>
      <pc:sldChg chg="modNotes">
        <pc:chgData name="Victor Birkefeldt Carstens" userId="S::s256191@dtu.dk::1ee44ff6-02af-40b0-887d-3566f46ee20c" providerId="AD" clId="Web-{F2E6B39E-CC19-BCB5-84A4-3E664A610D8F}" dt="2026-10-19T13:06:32.735" v="147"/>
        <pc:sldMkLst>
          <pc:docMk/>
          <pc:sldMk cId="191954916" sldId="256"/>
        </pc:sldMkLst>
      </pc:sldChg>
      <pc:sldChg chg="modSp modNotes">
        <pc:chgData name="Victor Birkefeldt Carstens" userId="S::s256191@dtu.dk::1ee44ff6-02af-40b0-887d-3566f46ee20c" providerId="AD" clId="Web-{F2E6B39E-CC19-BCB5-84A4-3E664A610D8F}" dt="2026-10-19T13:06:41.438" v="153"/>
        <pc:sldMkLst>
          <pc:docMk/>
          <pc:sldMk cId="1192207219" sldId="257"/>
        </pc:sldMkLst>
        <pc:spChg chg="mod">
          <ac:chgData name="Victor Birkefeldt Carstens" userId="S::s256191@dtu.dk::1ee44ff6-02af-40b0-887d-3566f46ee20c" providerId="AD" clId="Web-{F2E6B39E-CC19-BCB5-84A4-3E664A610D8F}" dt="2026-10-19T11:05:09.845" v="2" actId="20577"/>
          <ac:spMkLst>
            <pc:docMk/>
            <pc:sldMk cId="1192207219" sldId="257"/>
            <ac:spMk id="3" creationId="{BBA79725-4A2F-4B88-80CA-4F37FF5C02E7}"/>
          </ac:spMkLst>
        </pc:spChg>
        <pc:spChg chg="mod">
          <ac:chgData name="Victor Birkefeldt Carstens" userId="S::s256191@dtu.dk::1ee44ff6-02af-40b0-887d-3566f46ee20c" providerId="AD" clId="Web-{F2E6B39E-CC19-BCB5-84A4-3E664A610D8F}" dt="2026-10-19T11:05:18.736" v="15" actId="20577"/>
          <ac:spMkLst>
            <pc:docMk/>
            <pc:sldMk cId="1192207219" sldId="257"/>
            <ac:spMk id="5" creationId="{17A92212-EB7E-4C1B-A1A9-123FCF5A84FF}"/>
          </ac:spMkLst>
        </pc:spChg>
        <pc:spChg chg="mod">
          <ac:chgData name="Victor Birkefeldt Carstens" userId="S::s256191@dtu.dk::1ee44ff6-02af-40b0-887d-3566f46ee20c" providerId="AD" clId="Web-{F2E6B39E-CC19-BCB5-84A4-3E664A610D8F}" dt="2026-10-19T11:04:51.219" v="1" actId="20577"/>
          <ac:spMkLst>
            <pc:docMk/>
            <pc:sldMk cId="1192207219" sldId="257"/>
            <ac:spMk id="7" creationId="{573BAA0D-9BFB-4AEF-8BB0-023F3BE2EE80}"/>
          </ac:spMkLst>
        </pc:spChg>
      </pc:sldChg>
      <pc:sldChg chg="addSp delSp modSp modNotes">
        <pc:chgData name="Victor Birkefeldt Carstens" userId="S::s256191@dtu.dk::1ee44ff6-02af-40b0-887d-3566f46ee20c" providerId="AD" clId="Web-{F2E6B39E-CC19-BCB5-84A4-3E664A610D8F}" dt="2026-10-19T13:06:55.517" v="157"/>
        <pc:sldMkLst>
          <pc:docMk/>
          <pc:sldMk cId="1671469236" sldId="258"/>
        </pc:sldMkLst>
        <pc:spChg chg="del mod">
          <ac:chgData name="Victor Birkefeldt Carstens" userId="S::s256191@dtu.dk::1ee44ff6-02af-40b0-887d-3566f46ee20c" providerId="AD" clId="Web-{F2E6B39E-CC19-BCB5-84A4-3E664A610D8F}" dt="2026-10-19T11:12:37.363" v="29"/>
          <ac:spMkLst>
            <pc:docMk/>
            <pc:sldMk cId="1671469236" sldId="258"/>
            <ac:spMk id="2" creationId="{EC3ACAE7-EB53-4E61-9EB5-A9A3F77F1ACF}"/>
          </ac:spMkLst>
        </pc:spChg>
        <pc:spChg chg="del mod">
          <ac:chgData name="Victor Birkefeldt Carstens" userId="S::s256191@dtu.dk::1ee44ff6-02af-40b0-887d-3566f46ee20c" providerId="AD" clId="Web-{F2E6B39E-CC19-BCB5-84A4-3E664A610D8F}" dt="2026-10-19T11:20:58.400" v="80"/>
          <ac:spMkLst>
            <pc:docMk/>
            <pc:sldMk cId="1671469236" sldId="258"/>
            <ac:spMk id="6" creationId="{EAC09A03-4835-4935-83B3-64C0A84B7E31}"/>
          </ac:spMkLst>
        </pc:spChg>
        <pc:spChg chg="mod">
          <ac:chgData name="Victor Birkefeldt Carstens" userId="S::s256191@dtu.dk::1ee44ff6-02af-40b0-887d-3566f46ee20c" providerId="AD" clId="Web-{F2E6B39E-CC19-BCB5-84A4-3E664A610D8F}" dt="2026-10-19T11:22:31.685" v="107" actId="20577"/>
          <ac:spMkLst>
            <pc:docMk/>
            <pc:sldMk cId="1671469236" sldId="258"/>
            <ac:spMk id="7" creationId="{30B93710-3875-4333-BDC3-E83D1E557415}"/>
          </ac:spMkLst>
        </pc:spChg>
        <pc:spChg chg="add del mod">
          <ac:chgData name="Victor Birkefeldt Carstens" userId="S::s256191@dtu.dk::1ee44ff6-02af-40b0-887d-3566f46ee20c" providerId="AD" clId="Web-{F2E6B39E-CC19-BCB5-84A4-3E664A610D8F}" dt="2026-10-19T11:22:57.811" v="122" actId="20577"/>
          <ac:spMkLst>
            <pc:docMk/>
            <pc:sldMk cId="1671469236" sldId="258"/>
            <ac:spMk id="8" creationId="{61C33C4A-6AE3-4EE2-82BB-7D5BBE6B5804}"/>
          </ac:spMkLst>
        </pc:spChg>
        <pc:spChg chg="add mod">
          <ac:chgData name="Victor Birkefeldt Carstens" userId="S::s256191@dtu.dk::1ee44ff6-02af-40b0-887d-3566f46ee20c" providerId="AD" clId="Web-{F2E6B39E-CC19-BCB5-84A4-3E664A610D8F}" dt="2026-10-19T11:12:15.659" v="24" actId="1076"/>
          <ac:spMkLst>
            <pc:docMk/>
            <pc:sldMk cId="1671469236" sldId="258"/>
            <ac:spMk id="10" creationId="{666D73AD-11AF-6FD4-240E-A1019B242789}"/>
          </ac:spMkLst>
        </pc:spChg>
        <pc:spChg chg="add mod">
          <ac:chgData name="Victor Birkefeldt Carstens" userId="S::s256191@dtu.dk::1ee44ff6-02af-40b0-887d-3566f46ee20c" providerId="AD" clId="Web-{F2E6B39E-CC19-BCB5-84A4-3E664A610D8F}" dt="2026-10-19T11:12:34.269" v="27" actId="1076"/>
          <ac:spMkLst>
            <pc:docMk/>
            <pc:sldMk cId="1671469236" sldId="258"/>
            <ac:spMk id="11" creationId="{7FC2DB7D-F5B0-B366-7684-691065A7561B}"/>
          </ac:spMkLst>
        </pc:spChg>
        <pc:spChg chg="add del mod">
          <ac:chgData name="Victor Birkefeldt Carstens" userId="S::s256191@dtu.dk::1ee44ff6-02af-40b0-887d-3566f46ee20c" providerId="AD" clId="Web-{F2E6B39E-CC19-BCB5-84A4-3E664A610D8F}" dt="2026-10-19T11:19:27.631" v="69"/>
          <ac:spMkLst>
            <pc:docMk/>
            <pc:sldMk cId="1671469236" sldId="258"/>
            <ac:spMk id="12" creationId="{7C6323BB-5124-4503-022A-39110E3A595F}"/>
          </ac:spMkLst>
        </pc:spChg>
        <pc:spChg chg="add del mod">
          <ac:chgData name="Victor Birkefeldt Carstens" userId="S::s256191@dtu.dk::1ee44ff6-02af-40b0-887d-3566f46ee20c" providerId="AD" clId="Web-{F2E6B39E-CC19-BCB5-84A4-3E664A610D8F}" dt="2026-10-19T11:19:25.287" v="68"/>
          <ac:spMkLst>
            <pc:docMk/>
            <pc:sldMk cId="1671469236" sldId="258"/>
            <ac:spMk id="13" creationId="{298E40C6-0FD8-0318-C213-0A647810266C}"/>
          </ac:spMkLst>
        </pc:spChg>
        <pc:spChg chg="add del mod">
          <ac:chgData name="Victor Birkefeldt Carstens" userId="S::s256191@dtu.dk::1ee44ff6-02af-40b0-887d-3566f46ee20c" providerId="AD" clId="Web-{F2E6B39E-CC19-BCB5-84A4-3E664A610D8F}" dt="2026-10-19T11:20:40.821" v="76"/>
          <ac:spMkLst>
            <pc:docMk/>
            <pc:sldMk cId="1671469236" sldId="258"/>
            <ac:spMk id="14" creationId="{65947919-6138-B2AA-EBF9-2BCCEE51E452}"/>
          </ac:spMkLst>
        </pc:spChg>
        <pc:spChg chg="add mod ord">
          <ac:chgData name="Victor Birkefeldt Carstens" userId="S::s256191@dtu.dk::1ee44ff6-02af-40b0-887d-3566f46ee20c" providerId="AD" clId="Web-{F2E6B39E-CC19-BCB5-84A4-3E664A610D8F}" dt="2026-10-19T11:22:14.669" v="89"/>
          <ac:spMkLst>
            <pc:docMk/>
            <pc:sldMk cId="1671469236" sldId="258"/>
            <ac:spMk id="15" creationId="{674E2CD1-D4BE-0BB5-83EE-669ABB1774D8}"/>
          </ac:spMkLst>
        </pc:spChg>
        <pc:spChg chg="add mod">
          <ac:chgData name="Victor Birkefeldt Carstens" userId="S::s256191@dtu.dk::1ee44ff6-02af-40b0-887d-3566f46ee20c" providerId="AD" clId="Web-{F2E6B39E-CC19-BCB5-84A4-3E664A610D8F}" dt="2026-10-19T11:22:04.122" v="88" actId="20577"/>
          <ac:spMkLst>
            <pc:docMk/>
            <pc:sldMk cId="1671469236" sldId="258"/>
            <ac:spMk id="16" creationId="{489AD8C6-DB53-B121-ACA2-0C1075DE7F30}"/>
          </ac:spMkLst>
        </pc:spChg>
        <pc:picChg chg="mod ord">
          <ac:chgData name="Victor Birkefeldt Carstens" userId="S::s256191@dtu.dk::1ee44ff6-02af-40b0-887d-3566f46ee20c" providerId="AD" clId="Web-{F2E6B39E-CC19-BCB5-84A4-3E664A610D8F}" dt="2026-10-19T11:21:51.730" v="85"/>
          <ac:picMkLst>
            <pc:docMk/>
            <pc:sldMk cId="1671469236" sldId="258"/>
            <ac:picMk id="9" creationId="{AA368C31-0FB8-4140-8CA5-EEAED65E3318}"/>
          </ac:picMkLst>
        </pc:picChg>
      </pc:sldChg>
      <pc:sldChg chg="modSp modNotes">
        <pc:chgData name="Victor Birkefeldt Carstens" userId="S::s256191@dtu.dk::1ee44ff6-02af-40b0-887d-3566f46ee20c" providerId="AD" clId="Web-{F2E6B39E-CC19-BCB5-84A4-3E664A610D8F}" dt="2026-10-19T13:07:06.502" v="165"/>
        <pc:sldMkLst>
          <pc:docMk/>
          <pc:sldMk cId="1398637551" sldId="259"/>
        </pc:sldMkLst>
        <pc:graphicFrameChg chg="mod modGraphic">
          <ac:chgData name="Victor Birkefeldt Carstens" userId="S::s256191@dtu.dk::1ee44ff6-02af-40b0-887d-3566f46ee20c" providerId="AD" clId="Web-{F2E6B39E-CC19-BCB5-84A4-3E664A610D8F}" dt="2026-10-19T11:58:55.746" v="140"/>
          <ac:graphicFrameMkLst>
            <pc:docMk/>
            <pc:sldMk cId="1398637551" sldId="259"/>
            <ac:graphicFrameMk id="5" creationId="{4285D5F2-F472-4F92-A1E8-5B8720742735}"/>
          </ac:graphicFrameMkLst>
        </pc:graphicFrameChg>
      </pc:sldChg>
      <pc:sldChg chg="ord modNotes">
        <pc:chgData name="Victor Birkefeldt Carstens" userId="S::s256191@dtu.dk::1ee44ff6-02af-40b0-887d-3566f46ee20c" providerId="AD" clId="Web-{F2E6B39E-CC19-BCB5-84A4-3E664A610D8F}" dt="2026-10-19T13:07:01.220" v="161"/>
        <pc:sldMkLst>
          <pc:docMk/>
          <pc:sldMk cId="1738668717" sldId="260"/>
        </pc:sldMkLst>
      </pc:sldChg>
      <pc:sldChg chg="modSp modNotes">
        <pc:chgData name="Victor Birkefeldt Carstens" userId="S::s256191@dtu.dk::1ee44ff6-02af-40b0-887d-3566f46ee20c" providerId="AD" clId="Web-{F2E6B39E-CC19-BCB5-84A4-3E664A610D8F}" dt="2026-10-19T13:07:52.097" v="169"/>
        <pc:sldMkLst>
          <pc:docMk/>
          <pc:sldMk cId="567084586" sldId="261"/>
        </pc:sldMkLst>
        <pc:spChg chg="mod">
          <ac:chgData name="Victor Birkefeldt Carstens" userId="S::s256191@dtu.dk::1ee44ff6-02af-40b0-887d-3566f46ee20c" providerId="AD" clId="Web-{F2E6B39E-CC19-BCB5-84A4-3E664A610D8F}" dt="2026-10-19T11:59:44.139" v="142" actId="1076"/>
          <ac:spMkLst>
            <pc:docMk/>
            <pc:sldMk cId="567084586" sldId="261"/>
            <ac:spMk id="6" creationId="{5277408D-061E-43E3-B95E-4973D0FA3512}"/>
          </ac:spMkLst>
        </pc:spChg>
      </pc:sldChg>
      <pc:sldChg chg="modNotes">
        <pc:chgData name="Victor Birkefeldt Carstens" userId="S::s256191@dtu.dk::1ee44ff6-02af-40b0-887d-3566f46ee20c" providerId="AD" clId="Web-{F2E6B39E-CC19-BCB5-84A4-3E664A610D8F}" dt="2026-10-19T13:08:03.878" v="173"/>
        <pc:sldMkLst>
          <pc:docMk/>
          <pc:sldMk cId="1746185564" sldId="262"/>
        </pc:sldMkLst>
      </pc:sldChg>
      <pc:sldChg chg="modNotes">
        <pc:chgData name="Victor Birkefeldt Carstens" userId="S::s256191@dtu.dk::1ee44ff6-02af-40b0-887d-3566f46ee20c" providerId="AD" clId="Web-{F2E6B39E-CC19-BCB5-84A4-3E664A610D8F}" dt="2026-10-19T13:08:09.847" v="177"/>
        <pc:sldMkLst>
          <pc:docMk/>
          <pc:sldMk cId="592317908" sldId="263"/>
        </pc:sldMkLst>
      </pc:sldChg>
      <pc:sldChg chg="mod modShow">
        <pc:chgData name="Victor Birkefeldt Carstens" userId="S::s256191@dtu.dk::1ee44ff6-02af-40b0-887d-3566f46ee20c" providerId="AD" clId="Web-{F2E6B39E-CC19-BCB5-84A4-3E664A610D8F}" dt="2026-10-19T12:11:23.590" v="143"/>
        <pc:sldMkLst>
          <pc:docMk/>
          <pc:sldMk cId="1347804981" sldId="264"/>
        </pc:sldMkLst>
      </pc:sldChg>
    </pc:docChg>
  </pc:docChgLst>
  <pc:docChgLst>
    <pc:chgData name="Magnus Lau Ovesen" userId="418c1f3d-3806-4e0c-b4a3-27babb601aa5" providerId="ADAL" clId="{B2478266-A00C-426C-895A-CA5BB70D660D}"/>
    <pc:docChg chg="undo custSel modSld">
      <pc:chgData name="Magnus Lau Ovesen" userId="418c1f3d-3806-4e0c-b4a3-27babb601aa5" providerId="ADAL" clId="{B2478266-A00C-426C-895A-CA5BB70D660D}" dt="2026-10-19T11:20:34.698" v="43" actId="20577"/>
      <pc:docMkLst>
        <pc:docMk/>
      </pc:docMkLst>
      <pc:sldChg chg="addSp delSp mod">
        <pc:chgData name="Magnus Lau Ovesen" userId="418c1f3d-3806-4e0c-b4a3-27babb601aa5" providerId="ADAL" clId="{B2478266-A00C-426C-895A-CA5BB70D660D}" dt="2026-10-19T11:07:22.813" v="2" actId="478"/>
        <pc:sldMkLst>
          <pc:docMk/>
          <pc:sldMk cId="1192207219" sldId="257"/>
        </pc:sldMkLst>
        <pc:spChg chg="add del">
          <ac:chgData name="Magnus Lau Ovesen" userId="418c1f3d-3806-4e0c-b4a3-27babb601aa5" providerId="ADAL" clId="{B2478266-A00C-426C-895A-CA5BB70D660D}" dt="2026-10-19T11:07:22.813" v="2" actId="478"/>
          <ac:spMkLst>
            <pc:docMk/>
            <pc:sldMk cId="1192207219" sldId="257"/>
            <ac:spMk id="8" creationId="{091A5D33-8F21-4415-B6BB-DF564C74854B}"/>
          </ac:spMkLst>
        </pc:spChg>
      </pc:sldChg>
      <pc:sldChg chg="addSp delSp modSp mod">
        <pc:chgData name="Magnus Lau Ovesen" userId="418c1f3d-3806-4e0c-b4a3-27babb601aa5" providerId="ADAL" clId="{B2478266-A00C-426C-895A-CA5BB70D660D}" dt="2026-10-19T11:20:34.698" v="43" actId="20577"/>
        <pc:sldMkLst>
          <pc:docMk/>
          <pc:sldMk cId="1671469236" sldId="258"/>
        </pc:sldMkLst>
        <pc:spChg chg="add del">
          <ac:chgData name="Magnus Lau Ovesen" userId="418c1f3d-3806-4e0c-b4a3-27babb601aa5" providerId="ADAL" clId="{B2478266-A00C-426C-895A-CA5BB70D660D}" dt="2026-10-19T11:20:30.149" v="40" actId="478"/>
          <ac:spMkLst>
            <pc:docMk/>
            <pc:sldMk cId="1671469236" sldId="258"/>
            <ac:spMk id="6" creationId="{EAC09A03-4835-4935-83B3-64C0A84B7E31}"/>
          </ac:spMkLst>
        </pc:spChg>
        <pc:spChg chg="add del">
          <ac:chgData name="Magnus Lau Ovesen" userId="418c1f3d-3806-4e0c-b4a3-27babb601aa5" providerId="ADAL" clId="{B2478266-A00C-426C-895A-CA5BB70D660D}" dt="2026-10-19T11:20:32.836" v="42" actId="478"/>
          <ac:spMkLst>
            <pc:docMk/>
            <pc:sldMk cId="1671469236" sldId="258"/>
            <ac:spMk id="7" creationId="{30B93710-3875-4333-BDC3-E83D1E557415}"/>
          </ac:spMkLst>
        </pc:spChg>
        <pc:spChg chg="mod">
          <ac:chgData name="Magnus Lau Ovesen" userId="418c1f3d-3806-4e0c-b4a3-27babb601aa5" providerId="ADAL" clId="{B2478266-A00C-426C-895A-CA5BB70D660D}" dt="2026-10-19T11:20:34.698" v="43" actId="20577"/>
          <ac:spMkLst>
            <pc:docMk/>
            <pc:sldMk cId="1671469236" sldId="258"/>
            <ac:spMk id="11" creationId="{7FC2DB7D-F5B0-B366-7684-691065A7561B}"/>
          </ac:spMkLst>
        </pc:spChg>
        <pc:picChg chg="add del">
          <ac:chgData name="Magnus Lau Ovesen" userId="418c1f3d-3806-4e0c-b4a3-27babb601aa5" providerId="ADAL" clId="{B2478266-A00C-426C-895A-CA5BB70D660D}" dt="2026-10-19T11:20:31.211" v="41" actId="478"/>
          <ac:picMkLst>
            <pc:docMk/>
            <pc:sldMk cId="1671469236" sldId="258"/>
            <ac:picMk id="9" creationId="{AA368C31-0FB8-4140-8CA5-EEAED65E3318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da-DK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Neural network</c:v>
          </c:tx>
          <c:spPr>
            <a:solidFill>
              <a:srgbClr val="3B5DAE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75">
                    <a:latin typeface="Nimbus Sans"/>
                    <a:ea typeface="Nimbus Sans"/>
                    <a:cs typeface="Nimbus Sans"/>
                  </a:defRPr>
                </a:pPr>
                <a:endParaRPr lang="da-DK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Missed cases¹</c:v>
                </c:pt>
                <c:pt idx="1">
                  <c:v>False alarms²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19.7623</c:v>
                </c:pt>
                <c:pt idx="1">
                  <c:v>29.816099999999999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77-4216-A2A4-21350CEF7399}"/>
            </c:ext>
          </c:extLst>
        </c:ser>
        <c:ser>
          <c:idx val="1"/>
          <c:order val="1"/>
          <c:tx>
            <c:v>Decision tree</c:v>
          </c:tx>
          <c:spPr>
            <a:solidFill>
              <a:srgbClr val="8CA9DF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75">
                    <a:latin typeface="Nimbus Sans"/>
                    <a:ea typeface="Nimbus Sans"/>
                    <a:cs typeface="Nimbus Sans"/>
                  </a:defRPr>
                </a:pPr>
                <a:endParaRPr lang="da-DK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Data'!$C$2:$C$3</c:f>
              <c:strCache>
                <c:ptCount val="2"/>
                <c:pt idx="0">
                  <c:v>Missed cases¹</c:v>
                </c:pt>
                <c:pt idx="1">
                  <c:v>False alarms²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22.266200000000001</c:v>
                </c:pt>
                <c:pt idx="1">
                  <c:v>32.376199999999997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277-4216-A2A4-21350CEF739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Nimbus Sans"/>
                <a:ea typeface="Nimbus Sans"/>
                <a:cs typeface="Nimbus Sans"/>
              </a:defRPr>
            </a:pPr>
            <a:endParaRPr lang="da-DK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40"/>
          <c:min val="0"/>
        </c:scaling>
        <c:delete val="0"/>
        <c:axPos val="b"/>
        <c:majorGridlines>
          <c:spPr>
            <a:ln w="9525">
              <a:solidFill>
                <a:srgbClr val="D5DEEF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Nimbus Sans"/>
                <a:ea typeface="Nimbus Sans"/>
                <a:cs typeface="Nimbus Sans"/>
              </a:defRPr>
            </a:pPr>
            <a:endParaRPr lang="da-DK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500">
              <a:latin typeface="Nimbus Sans"/>
              <a:ea typeface="Nimbus Sans"/>
              <a:cs typeface="Nimbus Sans"/>
            </a:defRPr>
          </a:pPr>
          <a:endParaRPr lang="da-DK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/>
              <a:t>L</a:t>
            </a:r>
          </a:p>
          <a:p>
            <a:endParaRPr lang="da-DK"/>
          </a:p>
          <a:p>
            <a:r>
              <a:t>TID: 30 </a:t>
            </a:r>
            <a:r>
              <a:rPr err="1"/>
              <a:t>sekunder</a:t>
            </a:r>
            <a:r>
              <a:t>.</a:t>
            </a:r>
          </a:p>
          <a:p>
            <a:endParaRPr/>
          </a:p>
          <a:p>
            <a:r>
              <a:t>8 slides på10minutter, </a:t>
            </a:r>
            <a:r>
              <a:rPr err="1"/>
              <a:t>efterfulgt</a:t>
            </a:r>
            <a:r>
              <a:t> </a:t>
            </a:r>
            <a:r>
              <a:rPr err="1"/>
              <a:t>af</a:t>
            </a:r>
            <a:r>
              <a:t> backup. Tal </a:t>
            </a:r>
            <a:r>
              <a:rPr err="1"/>
              <a:t>i</a:t>
            </a:r>
            <a:r>
              <a:t> </a:t>
            </a:r>
            <a:r>
              <a:rPr err="1"/>
              <a:t>almindeligt</a:t>
            </a:r>
            <a:r>
              <a:t> sprog </a:t>
            </a:r>
            <a:r>
              <a:rPr err="1"/>
              <a:t>og</a:t>
            </a:r>
            <a:r>
              <a:t> </a:t>
            </a:r>
            <a:r>
              <a:rPr err="1"/>
              <a:t>gør</a:t>
            </a:r>
            <a:r>
              <a:t> </a:t>
            </a:r>
            <a:r>
              <a:rPr err="1"/>
              <a:t>beslutningen</a:t>
            </a:r>
            <a:r>
              <a:t> </a:t>
            </a:r>
            <a:r>
              <a:rPr err="1"/>
              <a:t>konkret</a:t>
            </a:r>
            <a:r>
              <a:t>: </a:t>
            </a:r>
            <a:r>
              <a:rPr err="1"/>
              <a:t>støtte</a:t>
            </a:r>
            <a:r>
              <a:t> </a:t>
            </a:r>
            <a:r>
              <a:rPr err="1"/>
              <a:t>videre</a:t>
            </a:r>
            <a:r>
              <a:t> </a:t>
            </a:r>
            <a:r>
              <a:rPr err="1"/>
              <a:t>evaluering</a:t>
            </a:r>
            <a:r>
              <a:t>, </a:t>
            </a:r>
            <a:r>
              <a:rPr err="1"/>
              <a:t>ikke</a:t>
            </a:r>
            <a:r>
              <a:t> </a:t>
            </a:r>
            <a:r>
              <a:rPr err="1"/>
              <a:t>lancering</a:t>
            </a:r>
            <a:r>
              <a:t> </a:t>
            </a:r>
            <a:r>
              <a:rPr err="1"/>
              <a:t>som</a:t>
            </a:r>
            <a:r>
              <a:t> </a:t>
            </a:r>
            <a:r>
              <a:rPr err="1"/>
              <a:t>klinisk</a:t>
            </a:r>
            <a:r>
              <a:t> </a:t>
            </a:r>
            <a:r>
              <a:rPr err="1"/>
              <a:t>risikoværktøj</a:t>
            </a:r>
            <a:r>
              <a:t>.</a:t>
            </a:r>
          </a:p>
          <a:p>
            <a:endParaRPr/>
          </a:p>
          <a:p>
            <a:r>
              <a:t>Source: </a:t>
            </a:r>
            <a:r>
              <a:rPr err="1"/>
              <a:t>neural_network.ipynb</a:t>
            </a:r>
            <a:r>
              <a:t>, uploaded 19 Oct 2026. Saved outputs, not a new model run.</a:t>
            </a:r>
          </a:p>
          <a:p>
            <a:r>
              <a:t>Source: </a:t>
            </a:r>
            <a:r>
              <a:rPr err="1"/>
              <a:t>decision_tree.ipynb</a:t>
            </a:r>
            <a:r>
              <a:t>, uploaded 19 Oct 2026. Saved outputs, not a new model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/>
              <a:t>L</a:t>
            </a:r>
          </a:p>
          <a:p>
            <a:endParaRPr lang="da-DK"/>
          </a:p>
          <a:p>
            <a:r>
              <a:rPr lang="da-DK"/>
              <a:t>TID</a:t>
            </a:r>
            <a:r>
              <a:t>: 75 </a:t>
            </a:r>
            <a:r>
              <a:rPr err="1"/>
              <a:t>sekunder</a:t>
            </a:r>
            <a:r>
              <a:t>.</a:t>
            </a:r>
          </a:p>
          <a:p>
            <a:endParaRPr/>
          </a:p>
          <a:p>
            <a:r>
              <a:rPr err="1"/>
              <a:t>Forklar</a:t>
            </a:r>
            <a:r>
              <a:t> </a:t>
            </a:r>
            <a:r>
              <a:rPr err="1"/>
              <a:t>træ</a:t>
            </a:r>
            <a:r>
              <a:t> </a:t>
            </a:r>
            <a:r>
              <a:rPr err="1"/>
              <a:t>som</a:t>
            </a:r>
            <a:r>
              <a:t> </a:t>
            </a:r>
            <a:r>
              <a:rPr err="1"/>
              <a:t>faste</a:t>
            </a:r>
            <a:r>
              <a:t> </a:t>
            </a:r>
            <a:r>
              <a:rPr err="1"/>
              <a:t>spørgsmål</a:t>
            </a:r>
            <a:r>
              <a:t> </a:t>
            </a:r>
            <a:r>
              <a:rPr err="1"/>
              <a:t>og</a:t>
            </a:r>
            <a:r>
              <a:t> NN </a:t>
            </a:r>
            <a:r>
              <a:rPr err="1"/>
              <a:t>som</a:t>
            </a:r>
            <a:r>
              <a:t> </a:t>
            </a:r>
            <a:r>
              <a:rPr err="1"/>
              <a:t>lærte</a:t>
            </a:r>
            <a:r>
              <a:t> </a:t>
            </a:r>
            <a:r>
              <a:rPr err="1"/>
              <a:t>kombinationer</a:t>
            </a:r>
            <a:r>
              <a:t>. </a:t>
            </a:r>
            <a:r>
              <a:rPr err="1"/>
              <a:t>Begge</a:t>
            </a:r>
            <a:r>
              <a:t> er </a:t>
            </a:r>
            <a:r>
              <a:rPr err="1"/>
              <a:t>trænet</a:t>
            </a:r>
            <a:r>
              <a:t> </a:t>
            </a:r>
            <a:r>
              <a:rPr err="1"/>
              <a:t>på</a:t>
            </a:r>
            <a:r>
              <a:t> </a:t>
            </a:r>
            <a:r>
              <a:rPr err="1"/>
              <a:t>selvrapporteret</a:t>
            </a:r>
            <a:r>
              <a:t> </a:t>
            </a:r>
            <a:r>
              <a:rPr err="1"/>
              <a:t>diabetesstatus</a:t>
            </a:r>
            <a:r>
              <a:t> </a:t>
            </a:r>
            <a:r>
              <a:rPr err="1"/>
              <a:t>i</a:t>
            </a:r>
            <a:r>
              <a:t> </a:t>
            </a:r>
            <a:r>
              <a:rPr err="1"/>
              <a:t>en</a:t>
            </a:r>
            <a:r>
              <a:t> amerikansk2015-undersøgelse. Det er </a:t>
            </a:r>
            <a:r>
              <a:rPr err="1"/>
              <a:t>ikke</a:t>
            </a:r>
            <a:r>
              <a:t> </a:t>
            </a:r>
            <a:r>
              <a:rPr err="1"/>
              <a:t>fremtidig</a:t>
            </a:r>
            <a:r>
              <a:t> </a:t>
            </a:r>
            <a:r>
              <a:rPr err="1"/>
              <a:t>sygdom</a:t>
            </a:r>
            <a:r>
              <a:t> over et </a:t>
            </a:r>
            <a:r>
              <a:rPr err="1"/>
              <a:t>tidsinterval</a:t>
            </a:r>
            <a:r>
              <a:t>. </a:t>
            </a:r>
            <a:r>
              <a:rPr err="1"/>
              <a:t>Halvdelen</a:t>
            </a:r>
            <a:r>
              <a:t> </a:t>
            </a:r>
            <a:r>
              <a:rPr err="1"/>
              <a:t>af</a:t>
            </a:r>
            <a:r>
              <a:t> </a:t>
            </a:r>
            <a:r>
              <a:rPr err="1"/>
              <a:t>udviklingsdata</a:t>
            </a:r>
            <a:r>
              <a:t> </a:t>
            </a:r>
            <a:r>
              <a:rPr err="1"/>
              <a:t>har</a:t>
            </a:r>
            <a:r>
              <a:t> label1, </a:t>
            </a:r>
            <a:r>
              <a:rPr err="1"/>
              <a:t>hvilket</a:t>
            </a:r>
            <a:r>
              <a:t> </a:t>
            </a:r>
            <a:r>
              <a:rPr err="1"/>
              <a:t>ikke</a:t>
            </a:r>
            <a:r>
              <a:t> </a:t>
            </a:r>
            <a:r>
              <a:rPr err="1"/>
              <a:t>svarer</a:t>
            </a:r>
            <a:r>
              <a:t> </a:t>
            </a:r>
            <a:r>
              <a:rPr err="1"/>
              <a:t>til</a:t>
            </a:r>
            <a:r>
              <a:t> </a:t>
            </a:r>
            <a:r>
              <a:rPr err="1"/>
              <a:t>generel</a:t>
            </a:r>
            <a:r>
              <a:t> </a:t>
            </a:r>
            <a:r>
              <a:rPr err="1"/>
              <a:t>befolkning</a:t>
            </a:r>
            <a:r>
              <a:t>.</a:t>
            </a:r>
          </a:p>
          <a:p>
            <a:endParaRPr/>
          </a:p>
          <a:p>
            <a:r>
              <a:t>Source: </a:t>
            </a:r>
            <a:r>
              <a:rPr err="1"/>
              <a:t>neural_network.ipynb</a:t>
            </a:r>
            <a:r>
              <a:t>, uploaded 19 Oct 2026. Saved outputs, not a new model run.</a:t>
            </a:r>
          </a:p>
          <a:p>
            <a:r>
              <a:t>Source: </a:t>
            </a:r>
            <a:r>
              <a:rPr err="1"/>
              <a:t>decision_tree.ipynb</a:t>
            </a:r>
            <a:r>
              <a:t>, uploaded 19 Oct 2026. Saved outputs, not a new model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/>
              <a:t>V</a:t>
            </a:r>
          </a:p>
          <a:p>
            <a:endParaRPr lang="da-DK"/>
          </a:p>
          <a:p>
            <a:r>
              <a:t>TID: 90 </a:t>
            </a:r>
            <a:r>
              <a:rPr err="1"/>
              <a:t>sekunder</a:t>
            </a:r>
            <a:r>
              <a:t>.</a:t>
            </a:r>
          </a:p>
          <a:p>
            <a:endParaRPr/>
          </a:p>
          <a:p>
            <a:r>
              <a:t>Holdt test på14.139. NN accuracy75.21, træ72.68. </a:t>
            </a:r>
            <a:r>
              <a:rPr err="1"/>
              <a:t>Formidl</a:t>
            </a:r>
            <a:r>
              <a:t> cirka75 versus73 </a:t>
            </a:r>
            <a:r>
              <a:rPr err="1"/>
              <a:t>korrekt</a:t>
            </a:r>
            <a:r>
              <a:t> pr100 </a:t>
            </a:r>
            <a:r>
              <a:rPr err="1"/>
              <a:t>i</a:t>
            </a:r>
            <a:r>
              <a:t> </a:t>
            </a:r>
            <a:r>
              <a:rPr err="1"/>
              <a:t>dette</a:t>
            </a:r>
            <a:r>
              <a:t> </a:t>
            </a:r>
            <a:r>
              <a:rPr err="1"/>
              <a:t>specifikke</a:t>
            </a:r>
            <a:r>
              <a:t> </a:t>
            </a:r>
            <a:r>
              <a:rPr err="1"/>
              <a:t>balancerede</a:t>
            </a:r>
            <a:r>
              <a:t> </a:t>
            </a:r>
            <a:r>
              <a:rPr err="1"/>
              <a:t>testdatasæt</a:t>
            </a:r>
            <a:r>
              <a:t>. Ingen </a:t>
            </a:r>
            <a:r>
              <a:rPr err="1"/>
              <a:t>signifikansanalyse</a:t>
            </a:r>
            <a:r>
              <a:t>. Vis </a:t>
            </a:r>
            <a:r>
              <a:rPr err="1"/>
              <a:t>begge</a:t>
            </a:r>
            <a:r>
              <a:t> typer </a:t>
            </a:r>
            <a:r>
              <a:rPr err="1"/>
              <a:t>fejl</a:t>
            </a:r>
            <a:r>
              <a:t> med </a:t>
            </a:r>
            <a:r>
              <a:rPr err="1"/>
              <a:t>præcise</a:t>
            </a:r>
            <a:r>
              <a:t> </a:t>
            </a:r>
            <a:r>
              <a:rPr err="1"/>
              <a:t>nævnere</a:t>
            </a:r>
            <a:r>
              <a:t>: </a:t>
            </a:r>
            <a:r>
              <a:rPr err="1"/>
              <a:t>blandt</a:t>
            </a:r>
            <a:r>
              <a:t> positive19.8% </a:t>
            </a:r>
            <a:r>
              <a:rPr err="1"/>
              <a:t>oversete</a:t>
            </a:r>
            <a:r>
              <a:t> </a:t>
            </a:r>
            <a:r>
              <a:rPr lang="da-DK"/>
              <a:t>NN 22.3 DT</a:t>
            </a:r>
            <a:r>
              <a:t>. </a:t>
            </a:r>
            <a:r>
              <a:rPr err="1"/>
              <a:t>Blandt</a:t>
            </a:r>
            <a:r>
              <a:t> negative29.8% </a:t>
            </a:r>
            <a:r>
              <a:rPr err="1"/>
              <a:t>falske</a:t>
            </a:r>
            <a:r>
              <a:t> alarmer NN32.4DT. Grafværdier </a:t>
            </a:r>
            <a:r>
              <a:rPr err="1"/>
              <a:t>beregnet</a:t>
            </a:r>
            <a:r>
              <a:t> </a:t>
            </a:r>
            <a:r>
              <a:rPr err="1"/>
              <a:t>fra</a:t>
            </a:r>
            <a:r>
              <a:t> </a:t>
            </a:r>
            <a:r>
              <a:rPr err="1"/>
              <a:t>gemte</a:t>
            </a:r>
            <a:r>
              <a:t> </a:t>
            </a:r>
            <a:r>
              <a:rPr err="1"/>
              <a:t>matricer</a:t>
            </a:r>
            <a:r>
              <a:t>, </a:t>
            </a:r>
            <a:r>
              <a:rPr err="1"/>
              <a:t>ikke</a:t>
            </a:r>
            <a:r>
              <a:t> </a:t>
            </a:r>
            <a:r>
              <a:rPr err="1"/>
              <a:t>simulerede</a:t>
            </a:r>
            <a:r>
              <a:t> data.</a:t>
            </a:r>
          </a:p>
          <a:p>
            <a:endParaRPr/>
          </a:p>
          <a:p>
            <a:r>
              <a:t>Source: </a:t>
            </a:r>
            <a:r>
              <a:rPr err="1"/>
              <a:t>neural_network.ipynb</a:t>
            </a:r>
            <a:r>
              <a:t>, uploaded 19 Oct 2026. Saved outputs, not a new model run.</a:t>
            </a:r>
          </a:p>
          <a:p>
            <a:r>
              <a:t>Source: </a:t>
            </a:r>
            <a:r>
              <a:rPr err="1"/>
              <a:t>decision_tree.ipynb</a:t>
            </a:r>
            <a:r>
              <a:t>, uploaded 19 Oct 2026. Saved outputs, not a new model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/>
              <a:t>R</a:t>
            </a:r>
          </a:p>
          <a:p>
            <a:endParaRPr lang="da-DK"/>
          </a:p>
          <a:p>
            <a:r>
              <a:t>TID: 90 </a:t>
            </a:r>
            <a:r>
              <a:rPr err="1"/>
              <a:t>sekunder</a:t>
            </a:r>
            <a:r>
              <a:t>.</a:t>
            </a:r>
          </a:p>
          <a:p>
            <a:endParaRPr/>
          </a:p>
          <a:p>
            <a:r>
              <a:t>Case57608 er </a:t>
            </a:r>
            <a:r>
              <a:rPr err="1"/>
              <a:t>en</a:t>
            </a:r>
            <a:r>
              <a:t> </a:t>
            </a:r>
            <a:r>
              <a:rPr err="1"/>
              <a:t>positiv</a:t>
            </a:r>
            <a:r>
              <a:t> </a:t>
            </a:r>
            <a:r>
              <a:rPr err="1"/>
              <a:t>testperson</a:t>
            </a:r>
            <a:r>
              <a:t>, </a:t>
            </a:r>
            <a:r>
              <a:rPr err="1"/>
              <a:t>ikke</a:t>
            </a:r>
            <a:r>
              <a:t> </a:t>
            </a:r>
            <a:r>
              <a:rPr err="1"/>
              <a:t>en</a:t>
            </a:r>
            <a:r>
              <a:t> </a:t>
            </a:r>
            <a:r>
              <a:rPr err="1"/>
              <a:t>fejlcase</a:t>
            </a:r>
            <a:r>
              <a:t>. NN score.8854 tree.8526. Bevidst vises scores som0–1 </a:t>
            </a:r>
            <a:r>
              <a:rPr err="1"/>
              <a:t>og</a:t>
            </a:r>
            <a:r>
              <a:t> </a:t>
            </a:r>
            <a:r>
              <a:rPr err="1"/>
              <a:t>ikke</a:t>
            </a:r>
            <a:r>
              <a:t> </a:t>
            </a:r>
            <a:r>
              <a:rPr err="1"/>
              <a:t>personens</a:t>
            </a:r>
            <a:r>
              <a:t> </a:t>
            </a:r>
            <a:r>
              <a:rPr err="1"/>
              <a:t>risiko</a:t>
            </a:r>
            <a:r>
              <a:t>. </a:t>
            </a:r>
            <a:r>
              <a:rPr err="1"/>
              <a:t>Begge</a:t>
            </a:r>
            <a:r>
              <a:t> </a:t>
            </a:r>
            <a:r>
              <a:rPr err="1"/>
              <a:t>peger</a:t>
            </a:r>
            <a:r>
              <a:t> </a:t>
            </a:r>
            <a:r>
              <a:rPr err="1"/>
              <a:t>på</a:t>
            </a:r>
            <a:r>
              <a:t> </a:t>
            </a:r>
            <a:r>
              <a:rPr err="1"/>
              <a:t>højt</a:t>
            </a:r>
            <a:r>
              <a:t> BMI, </a:t>
            </a:r>
            <a:r>
              <a:rPr err="1"/>
              <a:t>blodtryk</a:t>
            </a:r>
            <a:r>
              <a:t> </a:t>
            </a:r>
            <a:r>
              <a:rPr err="1"/>
              <a:t>og</a:t>
            </a:r>
            <a:r>
              <a:t> </a:t>
            </a:r>
            <a:r>
              <a:rPr err="1"/>
              <a:t>generelt</a:t>
            </a:r>
            <a:r>
              <a:t> </a:t>
            </a:r>
            <a:r>
              <a:rPr err="1"/>
              <a:t>helbred</a:t>
            </a:r>
            <a:r>
              <a:t>. </a:t>
            </a:r>
            <a:r>
              <a:rPr err="1"/>
              <a:t>Rå</a:t>
            </a:r>
            <a:r>
              <a:t> </a:t>
            </a:r>
            <a:r>
              <a:rPr err="1"/>
              <a:t>værdier</a:t>
            </a:r>
            <a:r>
              <a:t> </a:t>
            </a:r>
            <a:r>
              <a:rPr err="1"/>
              <a:t>og</a:t>
            </a:r>
            <a:r>
              <a:t> </a:t>
            </a:r>
            <a:r>
              <a:rPr err="1"/>
              <a:t>vurdering</a:t>
            </a:r>
            <a:r>
              <a:t> </a:t>
            </a:r>
            <a:r>
              <a:rPr err="1"/>
              <a:t>af</a:t>
            </a:r>
            <a:r>
              <a:t> </a:t>
            </a:r>
            <a:r>
              <a:rPr err="1"/>
              <a:t>adgang</a:t>
            </a:r>
            <a:r>
              <a:t>: NoDocbcCost1 </a:t>
            </a:r>
            <a:r>
              <a:rPr err="1"/>
              <a:t>selvom</a:t>
            </a:r>
            <a:r>
              <a:t> AnyHealthcare1. </a:t>
            </a:r>
            <a:r>
              <a:rPr err="1"/>
              <a:t>Fremhæv</a:t>
            </a:r>
            <a:r>
              <a:t> </a:t>
            </a:r>
            <a:r>
              <a:rPr err="1"/>
              <a:t>adgangsbarrierer</a:t>
            </a:r>
            <a:r>
              <a:t> </a:t>
            </a:r>
            <a:r>
              <a:rPr err="1"/>
              <a:t>hvis</a:t>
            </a:r>
            <a:r>
              <a:t> </a:t>
            </a:r>
            <a:r>
              <a:rPr err="1"/>
              <a:t>direktøren</a:t>
            </a:r>
            <a:r>
              <a:t> </a:t>
            </a:r>
            <a:r>
              <a:rPr err="1"/>
              <a:t>spørger</a:t>
            </a:r>
            <a:r>
              <a:t> om </a:t>
            </a:r>
            <a:r>
              <a:rPr err="1"/>
              <a:t>produktets</a:t>
            </a:r>
            <a:r>
              <a:t> </a:t>
            </a:r>
            <a:r>
              <a:rPr err="1"/>
              <a:t>anvendelighed</a:t>
            </a:r>
            <a:r>
              <a:t>.</a:t>
            </a:r>
          </a:p>
          <a:p>
            <a:endParaRPr/>
          </a:p>
          <a:p>
            <a:r>
              <a:t>Source: </a:t>
            </a:r>
            <a:r>
              <a:rPr err="1"/>
              <a:t>neural_network.ipynb</a:t>
            </a:r>
            <a:r>
              <a:t>, uploaded 19 Oct 2026. Saved outputs, not a new model run.</a:t>
            </a:r>
          </a:p>
          <a:p>
            <a:r>
              <a:t>Source: </a:t>
            </a:r>
            <a:r>
              <a:rPr err="1"/>
              <a:t>decision_tree.ipynb</a:t>
            </a:r>
            <a:r>
              <a:t>, uploaded 19 Oct 2026. Saved outputs, not a new model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/>
              <a:t>M</a:t>
            </a:r>
          </a:p>
          <a:p>
            <a:endParaRPr lang="da-DK"/>
          </a:p>
          <a:p>
            <a:r>
              <a:t>TID: 90 </a:t>
            </a:r>
            <a:r>
              <a:rPr err="1"/>
              <a:t>sekunder</a:t>
            </a:r>
            <a:r>
              <a:t>.</a:t>
            </a:r>
          </a:p>
          <a:p>
            <a:endParaRPr/>
          </a:p>
          <a:p>
            <a:r>
              <a:rPr err="1"/>
              <a:t>Oversæt</a:t>
            </a:r>
            <a:r>
              <a:t> global </a:t>
            </a:r>
            <a:r>
              <a:rPr err="1"/>
              <a:t>rangorden</a:t>
            </a:r>
            <a:r>
              <a:t>, </a:t>
            </a:r>
            <a:r>
              <a:rPr err="1"/>
              <a:t>uden</a:t>
            </a:r>
            <a:r>
              <a:t> at </a:t>
            </a:r>
            <a:r>
              <a:rPr err="1"/>
              <a:t>kalde</a:t>
            </a:r>
            <a:r>
              <a:t> det </a:t>
            </a:r>
            <a:r>
              <a:rPr err="1"/>
              <a:t>kausalitet</a:t>
            </a:r>
            <a:r>
              <a:t>. NN: </a:t>
            </a:r>
            <a:r>
              <a:rPr err="1"/>
              <a:t>generelt</a:t>
            </a:r>
            <a:r>
              <a:t> </a:t>
            </a:r>
            <a:r>
              <a:rPr err="1"/>
              <a:t>helbred</a:t>
            </a:r>
            <a:r>
              <a:t>, BMI, alder, </a:t>
            </a:r>
            <a:r>
              <a:rPr err="1"/>
              <a:t>blodtryk</a:t>
            </a:r>
            <a:r>
              <a:t>, </a:t>
            </a:r>
            <a:r>
              <a:rPr err="1"/>
              <a:t>kolesterol</a:t>
            </a:r>
            <a:r>
              <a:t>. Tree: </a:t>
            </a:r>
            <a:r>
              <a:rPr err="1"/>
              <a:t>generelt</a:t>
            </a:r>
            <a:r>
              <a:t> </a:t>
            </a:r>
            <a:r>
              <a:rPr err="1"/>
              <a:t>helbred</a:t>
            </a:r>
            <a:r>
              <a:t>, </a:t>
            </a:r>
            <a:r>
              <a:rPr err="1"/>
              <a:t>blodtryk</a:t>
            </a:r>
            <a:r>
              <a:t>, BMI, </a:t>
            </a:r>
            <a:r>
              <a:rPr err="1"/>
              <a:t>kolesterol</a:t>
            </a:r>
            <a:r>
              <a:t>, alder. Global SHAP er </a:t>
            </a:r>
            <a:r>
              <a:rPr lang="da-DK"/>
              <a:t>kun 40 testpersoner</a:t>
            </a:r>
            <a:r>
              <a:t> </a:t>
            </a:r>
            <a:r>
              <a:rPr err="1"/>
              <a:t>og</a:t>
            </a:r>
            <a:r>
              <a:t> er </a:t>
            </a:r>
            <a:r>
              <a:rPr err="1"/>
              <a:t>derfor</a:t>
            </a:r>
            <a:r>
              <a:t> </a:t>
            </a:r>
            <a:r>
              <a:rPr err="1"/>
              <a:t>en</a:t>
            </a:r>
            <a:r>
              <a:t> </a:t>
            </a:r>
            <a:r>
              <a:rPr err="1"/>
              <a:t>indikation</a:t>
            </a:r>
            <a:r>
              <a:t> </a:t>
            </a:r>
            <a:r>
              <a:rPr err="1"/>
              <a:t>af</a:t>
            </a:r>
            <a:r>
              <a:t> </a:t>
            </a:r>
            <a:r>
              <a:rPr err="1"/>
              <a:t>modeladfærd</a:t>
            </a:r>
            <a:r>
              <a:t>, </a:t>
            </a:r>
            <a:r>
              <a:rPr err="1"/>
              <a:t>ikke</a:t>
            </a:r>
            <a:r>
              <a:t> </a:t>
            </a:r>
            <a:r>
              <a:rPr err="1"/>
              <a:t>dokumentation</a:t>
            </a:r>
            <a:r>
              <a:t> for hele </a:t>
            </a:r>
            <a:r>
              <a:rPr err="1"/>
              <a:t>populationen</a:t>
            </a:r>
            <a:r>
              <a:t>. Bedste </a:t>
            </a:r>
            <a:r>
              <a:rPr err="1"/>
              <a:t>fælles</a:t>
            </a:r>
            <a:r>
              <a:t> </a:t>
            </a:r>
            <a:r>
              <a:rPr err="1"/>
              <a:t>forklaring</a:t>
            </a:r>
            <a:r>
              <a:t> </a:t>
            </a:r>
            <a:r>
              <a:rPr err="1"/>
              <a:t>til</a:t>
            </a:r>
            <a:r>
              <a:t> </a:t>
            </a:r>
            <a:r>
              <a:rPr err="1"/>
              <a:t>direktør</a:t>
            </a:r>
            <a:r>
              <a:t>: </a:t>
            </a:r>
            <a:r>
              <a:rPr err="1"/>
              <a:t>modellerne</a:t>
            </a:r>
            <a:r>
              <a:t> finder </a:t>
            </a:r>
            <a:r>
              <a:rPr err="1"/>
              <a:t>genkendelige</a:t>
            </a:r>
            <a:r>
              <a:t> </a:t>
            </a:r>
            <a:r>
              <a:rPr err="1"/>
              <a:t>mønstre</a:t>
            </a:r>
            <a:r>
              <a:t>, men det </a:t>
            </a:r>
            <a:r>
              <a:rPr err="1"/>
              <a:t>beviser</a:t>
            </a:r>
            <a:r>
              <a:t> </a:t>
            </a:r>
            <a:r>
              <a:rPr err="1"/>
              <a:t>ikke</a:t>
            </a:r>
            <a:r>
              <a:t> </a:t>
            </a:r>
            <a:r>
              <a:rPr err="1"/>
              <a:t>klinisk</a:t>
            </a:r>
            <a:r>
              <a:t> </a:t>
            </a:r>
            <a:r>
              <a:rPr err="1"/>
              <a:t>værdi</a:t>
            </a:r>
            <a:r>
              <a:t>.</a:t>
            </a:r>
          </a:p>
          <a:p>
            <a:endParaRPr/>
          </a:p>
          <a:p>
            <a:r>
              <a:t>Source: </a:t>
            </a:r>
            <a:r>
              <a:rPr err="1"/>
              <a:t>neural_network.ipynb</a:t>
            </a:r>
            <a:r>
              <a:t>, uploaded 19 Oct 2026. Saved outputs, not a new model run.</a:t>
            </a:r>
          </a:p>
          <a:p>
            <a:r>
              <a:t>Source: </a:t>
            </a:r>
            <a:r>
              <a:rPr err="1"/>
              <a:t>decision_tree.ipynb</a:t>
            </a:r>
            <a:r>
              <a:t>, uploaded 19 Oct 2026. Saved outputs, not a new model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/>
              <a:t>L</a:t>
            </a:r>
          </a:p>
          <a:p>
            <a:endParaRPr lang="da-DK"/>
          </a:p>
          <a:p>
            <a:r>
              <a:t>TID: 90 </a:t>
            </a:r>
            <a:r>
              <a:rPr err="1"/>
              <a:t>sekunder</a:t>
            </a:r>
            <a:r>
              <a:t>.</a:t>
            </a:r>
          </a:p>
          <a:p>
            <a:endParaRPr/>
          </a:p>
          <a:p>
            <a:r>
              <a:rPr err="1"/>
              <a:t>Skeln</a:t>
            </a:r>
            <a:r>
              <a:t> </a:t>
            </a:r>
            <a:r>
              <a:rPr err="1"/>
              <a:t>mellem</a:t>
            </a:r>
            <a:r>
              <a:t> model </a:t>
            </a:r>
            <a:r>
              <a:rPr err="1"/>
              <a:t>og</a:t>
            </a:r>
            <a:r>
              <a:t> </a:t>
            </a:r>
            <a:r>
              <a:rPr err="1"/>
              <a:t>forklaringskvalitet</a:t>
            </a:r>
            <a:r>
              <a:t> </a:t>
            </a:r>
            <a:r>
              <a:rPr err="1"/>
              <a:t>uden</a:t>
            </a:r>
            <a:r>
              <a:t> R². Cirka </a:t>
            </a:r>
            <a:r>
              <a:rPr err="1"/>
              <a:t>en</a:t>
            </a:r>
            <a:r>
              <a:t> </a:t>
            </a:r>
            <a:r>
              <a:rPr err="1"/>
              <a:t>ud</a:t>
            </a:r>
            <a:r>
              <a:t> </a:t>
            </a:r>
            <a:r>
              <a:rPr err="1"/>
              <a:t>af</a:t>
            </a:r>
            <a:r>
              <a:t> fem positive </a:t>
            </a:r>
            <a:r>
              <a:rPr err="1"/>
              <a:t>overses</a:t>
            </a:r>
            <a:r>
              <a:t> </a:t>
            </a:r>
            <a:r>
              <a:rPr err="1"/>
              <a:t>af</a:t>
            </a:r>
            <a:r>
              <a:t> NN. LIME </a:t>
            </a:r>
            <a:r>
              <a:rPr err="1"/>
              <a:t>gennemsnitlig</a:t>
            </a:r>
            <a:r>
              <a:t> </a:t>
            </a:r>
            <a:r>
              <a:rPr err="1"/>
              <a:t>absolut</a:t>
            </a:r>
            <a:r>
              <a:t> </a:t>
            </a:r>
            <a:r>
              <a:rPr err="1"/>
              <a:t>fejl</a:t>
            </a:r>
            <a:r>
              <a:t> </a:t>
            </a:r>
            <a:r>
              <a:rPr err="1"/>
              <a:t>ved</a:t>
            </a:r>
            <a:r>
              <a:t> </a:t>
            </a:r>
            <a:r>
              <a:rPr err="1"/>
              <a:t>samme</a:t>
            </a:r>
            <a:r>
              <a:t> person12.31pp over20runs. Det er </a:t>
            </a:r>
            <a:r>
              <a:rPr err="1"/>
              <a:t>fejl</a:t>
            </a:r>
            <a:r>
              <a:t> </a:t>
            </a:r>
            <a:r>
              <a:rPr err="1"/>
              <a:t>ved</a:t>
            </a:r>
            <a:r>
              <a:t> </a:t>
            </a:r>
            <a:r>
              <a:rPr err="1"/>
              <a:t>forklaringens</a:t>
            </a:r>
            <a:r>
              <a:t> approximation, </a:t>
            </a:r>
            <a:r>
              <a:rPr err="1"/>
              <a:t>ikke</a:t>
            </a:r>
            <a:r>
              <a:t> </a:t>
            </a:r>
            <a:r>
              <a:rPr err="1"/>
              <a:t>fejl</a:t>
            </a:r>
            <a:r>
              <a:t> </a:t>
            </a:r>
            <a:r>
              <a:rPr err="1"/>
              <a:t>i</a:t>
            </a:r>
            <a:r>
              <a:t> </a:t>
            </a:r>
            <a:r>
              <a:rPr err="1"/>
              <a:t>patientens</a:t>
            </a:r>
            <a:r>
              <a:t> </a:t>
            </a:r>
            <a:r>
              <a:rPr err="1"/>
              <a:t>faktiske</a:t>
            </a:r>
            <a:r>
              <a:t> </a:t>
            </a:r>
            <a:r>
              <a:rPr err="1"/>
              <a:t>risiko</a:t>
            </a:r>
            <a:r>
              <a:t>. </a:t>
            </a:r>
            <a:r>
              <a:rPr err="1"/>
              <a:t>Demografiske</a:t>
            </a:r>
            <a:r>
              <a:t> </a:t>
            </a:r>
            <a:r>
              <a:rPr err="1"/>
              <a:t>og</a:t>
            </a:r>
            <a:r>
              <a:t> </a:t>
            </a:r>
            <a:r>
              <a:rPr err="1"/>
              <a:t>sociale</a:t>
            </a:r>
            <a:r>
              <a:t> variable </a:t>
            </a:r>
            <a:r>
              <a:rPr err="1"/>
              <a:t>gør</a:t>
            </a:r>
            <a:r>
              <a:t> fairness-audit relevant, men </a:t>
            </a:r>
            <a:r>
              <a:rPr err="1"/>
              <a:t>notebooken</a:t>
            </a:r>
            <a:r>
              <a:t> </a:t>
            </a:r>
            <a:r>
              <a:rPr err="1"/>
              <a:t>dokumenterer</a:t>
            </a:r>
            <a:r>
              <a:t> </a:t>
            </a:r>
            <a:r>
              <a:rPr err="1"/>
              <a:t>ikke</a:t>
            </a:r>
            <a:r>
              <a:t> </a:t>
            </a:r>
            <a:r>
              <a:rPr err="1"/>
              <a:t>diskrimination</a:t>
            </a:r>
            <a:r>
              <a:t> </a:t>
            </a:r>
            <a:r>
              <a:rPr err="1"/>
              <a:t>eller</a:t>
            </a:r>
            <a:r>
              <a:t> fairness.</a:t>
            </a:r>
          </a:p>
          <a:p>
            <a:endParaRPr/>
          </a:p>
          <a:p>
            <a:r>
              <a:t>Source: </a:t>
            </a:r>
            <a:r>
              <a:rPr err="1"/>
              <a:t>neural_network.ipynb</a:t>
            </a:r>
            <a:r>
              <a:t>, uploaded 19 Oct 2026. Saved outputs, not a new model run.</a:t>
            </a:r>
          </a:p>
          <a:p>
            <a:r>
              <a:t>Source: </a:t>
            </a:r>
            <a:r>
              <a:rPr err="1"/>
              <a:t>decision_tree.ipynb</a:t>
            </a:r>
            <a:r>
              <a:t>, uploaded 19 Oct 2026. Saved outputs, not a new model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/>
              <a:t>V</a:t>
            </a:r>
          </a:p>
          <a:p>
            <a:endParaRPr lang="da-DK"/>
          </a:p>
          <a:p>
            <a:r>
              <a:t>TID: 75 </a:t>
            </a:r>
            <a:r>
              <a:rPr err="1"/>
              <a:t>sekunder</a:t>
            </a:r>
            <a:r>
              <a:t>.</a:t>
            </a:r>
          </a:p>
          <a:p>
            <a:endParaRPr/>
          </a:p>
          <a:p>
            <a:r>
              <a:t>Dette er </a:t>
            </a:r>
            <a:r>
              <a:rPr err="1"/>
              <a:t>anbefalet</a:t>
            </a:r>
            <a:r>
              <a:t> </a:t>
            </a:r>
            <a:r>
              <a:rPr err="1"/>
              <a:t>næste</a:t>
            </a:r>
            <a:r>
              <a:t> </a:t>
            </a:r>
            <a:r>
              <a:rPr err="1"/>
              <a:t>fase</a:t>
            </a:r>
            <a:r>
              <a:t>, </a:t>
            </a:r>
            <a:r>
              <a:rPr err="1"/>
              <a:t>ikke</a:t>
            </a:r>
            <a:r>
              <a:t> </a:t>
            </a:r>
            <a:r>
              <a:rPr err="1"/>
              <a:t>udført</a:t>
            </a:r>
            <a:r>
              <a:t> </a:t>
            </a:r>
            <a:r>
              <a:rPr err="1"/>
              <a:t>arbejde</a:t>
            </a:r>
            <a:r>
              <a:t> </a:t>
            </a:r>
            <a:r>
              <a:rPr err="1"/>
              <a:t>eller</a:t>
            </a:r>
            <a:r>
              <a:t> </a:t>
            </a:r>
            <a:r>
              <a:rPr err="1"/>
              <a:t>en</a:t>
            </a:r>
            <a:r>
              <a:t> </a:t>
            </a:r>
            <a:r>
              <a:rPr err="1"/>
              <a:t>klinisk</a:t>
            </a:r>
            <a:r>
              <a:t> </a:t>
            </a:r>
            <a:r>
              <a:rPr err="1"/>
              <a:t>godkendelse</a:t>
            </a:r>
            <a:r>
              <a:t>. Først </a:t>
            </a:r>
            <a:r>
              <a:rPr err="1"/>
              <a:t>repræsentative</a:t>
            </a:r>
            <a:r>
              <a:t> </a:t>
            </a:r>
            <a:r>
              <a:rPr err="1"/>
              <a:t>nyere</a:t>
            </a:r>
            <a:r>
              <a:t> data </a:t>
            </a:r>
            <a:r>
              <a:rPr err="1"/>
              <a:t>og</a:t>
            </a:r>
            <a:r>
              <a:t> </a:t>
            </a:r>
            <a:r>
              <a:rPr err="1"/>
              <a:t>klinikerreview</a:t>
            </a:r>
            <a:r>
              <a:t>, </a:t>
            </a:r>
            <a:r>
              <a:rPr err="1"/>
              <a:t>derefter</a:t>
            </a:r>
            <a:r>
              <a:t> </a:t>
            </a:r>
            <a:r>
              <a:rPr err="1"/>
              <a:t>patientsikkerhed</a:t>
            </a:r>
            <a:r>
              <a:t> </a:t>
            </a:r>
            <a:r>
              <a:rPr err="1"/>
              <a:t>og</a:t>
            </a:r>
            <a:r>
              <a:t> </a:t>
            </a:r>
            <a:r>
              <a:rPr err="1"/>
              <a:t>brugertest</a:t>
            </a:r>
            <a:r>
              <a:t>. </a:t>
            </a:r>
            <a:r>
              <a:rPr err="1"/>
              <a:t>Brugertest</a:t>
            </a:r>
            <a:r>
              <a:t> </a:t>
            </a:r>
            <a:r>
              <a:rPr err="1"/>
              <a:t>undersøger</a:t>
            </a:r>
            <a:r>
              <a:t> om score </a:t>
            </a:r>
            <a:r>
              <a:rPr err="1"/>
              <a:t>fejllæses</a:t>
            </a:r>
            <a:r>
              <a:t>, om </a:t>
            </a:r>
            <a:r>
              <a:rPr err="1"/>
              <a:t>forklaring</a:t>
            </a:r>
            <a:r>
              <a:t> </a:t>
            </a:r>
            <a:r>
              <a:rPr err="1"/>
              <a:t>forstås</a:t>
            </a:r>
            <a:r>
              <a:t>, </a:t>
            </a:r>
            <a:r>
              <a:rPr err="1"/>
              <a:t>og</a:t>
            </a:r>
            <a:r>
              <a:t> om </a:t>
            </a:r>
            <a:r>
              <a:rPr err="1"/>
              <a:t>personen</a:t>
            </a:r>
            <a:r>
              <a:t> </a:t>
            </a:r>
            <a:r>
              <a:rPr err="1"/>
              <a:t>ved</a:t>
            </a:r>
            <a:r>
              <a:t> at tale med </a:t>
            </a:r>
            <a:r>
              <a:rPr err="1"/>
              <a:t>lægen</a:t>
            </a:r>
            <a:r>
              <a:t>. Ingen </a:t>
            </a:r>
            <a:r>
              <a:rPr err="1"/>
              <a:t>økonomiske</a:t>
            </a:r>
            <a:r>
              <a:t> </a:t>
            </a:r>
            <a:r>
              <a:rPr err="1"/>
              <a:t>besparelser</a:t>
            </a:r>
            <a:r>
              <a:t> </a:t>
            </a:r>
            <a:r>
              <a:rPr err="1"/>
              <a:t>eller</a:t>
            </a:r>
            <a:r>
              <a:t> </a:t>
            </a:r>
            <a:r>
              <a:rPr err="1"/>
              <a:t>dokumenteret</a:t>
            </a:r>
            <a:r>
              <a:t> </a:t>
            </a:r>
            <a:r>
              <a:rPr err="1"/>
              <a:t>effekt</a:t>
            </a:r>
            <a:r>
              <a:t> er </a:t>
            </a:r>
            <a:r>
              <a:rPr err="1"/>
              <a:t>målt</a:t>
            </a:r>
            <a:r>
              <a:t>.</a:t>
            </a:r>
          </a:p>
          <a:p>
            <a:endParaRPr/>
          </a:p>
          <a:p>
            <a:r>
              <a:t>Source: </a:t>
            </a:r>
            <a:r>
              <a:rPr err="1"/>
              <a:t>neural_network.ipynb</a:t>
            </a:r>
            <a:r>
              <a:t>, uploaded 19 Oct 2026. Saved outputs, not a new model run.</a:t>
            </a:r>
          </a:p>
          <a:p>
            <a:r>
              <a:t>Source: </a:t>
            </a:r>
            <a:r>
              <a:rPr err="1"/>
              <a:t>decision_tree.ipynb</a:t>
            </a:r>
            <a:r>
              <a:t>, uploaded 19 Oct 2026. Saved outputs, not a new model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/>
              <a:t>R</a:t>
            </a:r>
          </a:p>
          <a:p>
            <a:endParaRPr lang="da-DK"/>
          </a:p>
          <a:p>
            <a:r>
              <a:t>TID: 60 sekunder.</a:t>
            </a:r>
          </a:p>
          <a:p>
            <a:endParaRPr/>
          </a:p>
          <a:p>
            <a:r>
              <a:rPr err="1"/>
              <a:t>Afslut</a:t>
            </a:r>
            <a:r>
              <a:t> ved10minutter. </a:t>
            </a:r>
            <a:r>
              <a:rPr err="1"/>
              <a:t>Anbefal</a:t>
            </a:r>
            <a:r>
              <a:t> NN </a:t>
            </a:r>
            <a:r>
              <a:rPr err="1"/>
              <a:t>som</a:t>
            </a:r>
            <a:r>
              <a:t> </a:t>
            </a:r>
            <a:r>
              <a:rPr err="1"/>
              <a:t>kandidat</a:t>
            </a:r>
            <a:r>
              <a:t> </a:t>
            </a:r>
            <a:r>
              <a:rPr err="1"/>
              <a:t>til</a:t>
            </a:r>
            <a:r>
              <a:t> </a:t>
            </a:r>
            <a:r>
              <a:rPr err="1"/>
              <a:t>videre</a:t>
            </a:r>
            <a:r>
              <a:t> </a:t>
            </a:r>
            <a:r>
              <a:rPr err="1"/>
              <a:t>evaluering</a:t>
            </a:r>
            <a:r>
              <a:t> </a:t>
            </a:r>
            <a:r>
              <a:rPr err="1"/>
              <a:t>på</a:t>
            </a:r>
            <a:r>
              <a:t> </a:t>
            </a:r>
            <a:r>
              <a:rPr err="1"/>
              <a:t>baggrund</a:t>
            </a:r>
            <a:r>
              <a:t> </a:t>
            </a:r>
            <a:r>
              <a:rPr err="1"/>
              <a:t>af</a:t>
            </a:r>
            <a:r>
              <a:t> </a:t>
            </a:r>
            <a:r>
              <a:rPr err="1"/>
              <a:t>dette</a:t>
            </a:r>
            <a:r>
              <a:t> </a:t>
            </a:r>
            <a:r>
              <a:rPr err="1"/>
              <a:t>testsæt</a:t>
            </a:r>
            <a:r>
              <a:t>, </a:t>
            </a:r>
            <a:r>
              <a:rPr err="1"/>
              <a:t>træ</a:t>
            </a:r>
            <a:r>
              <a:t> </a:t>
            </a:r>
            <a:r>
              <a:rPr err="1"/>
              <a:t>som</a:t>
            </a:r>
            <a:r>
              <a:t> transparent comparator. Ingen </a:t>
            </a:r>
            <a:r>
              <a:rPr err="1"/>
              <a:t>af</a:t>
            </a:r>
            <a:r>
              <a:t> </a:t>
            </a:r>
            <a:r>
              <a:rPr err="1"/>
              <a:t>modellerne</a:t>
            </a:r>
            <a:r>
              <a:t> </a:t>
            </a:r>
            <a:r>
              <a:rPr err="1"/>
              <a:t>godkendes</a:t>
            </a:r>
            <a:r>
              <a:t> </a:t>
            </a:r>
            <a:r>
              <a:rPr err="1"/>
              <a:t>som</a:t>
            </a:r>
            <a:r>
              <a:t> </a:t>
            </a:r>
            <a:r>
              <a:rPr err="1"/>
              <a:t>fremtidig</a:t>
            </a:r>
            <a:r>
              <a:t> </a:t>
            </a:r>
            <a:r>
              <a:rPr err="1"/>
              <a:t>risiko</a:t>
            </a:r>
            <a:r>
              <a:t> </a:t>
            </a:r>
            <a:r>
              <a:rPr err="1"/>
              <a:t>eller</a:t>
            </a:r>
            <a:r>
              <a:t> </a:t>
            </a:r>
            <a:r>
              <a:rPr err="1"/>
              <a:t>livsstilsrådgiver</a:t>
            </a:r>
            <a:r>
              <a:t>. </a:t>
            </a:r>
            <a:r>
              <a:rPr err="1"/>
              <a:t>Patientforklaringen</a:t>
            </a:r>
            <a:r>
              <a:t> </a:t>
            </a:r>
            <a:r>
              <a:rPr err="1"/>
              <a:t>skal</a:t>
            </a:r>
            <a:r>
              <a:t> </a:t>
            </a:r>
            <a:r>
              <a:rPr err="1"/>
              <a:t>være</a:t>
            </a:r>
            <a:r>
              <a:t> </a:t>
            </a:r>
            <a:r>
              <a:rPr err="1"/>
              <a:t>enkel</a:t>
            </a:r>
            <a:r>
              <a:t>, </a:t>
            </a:r>
            <a:r>
              <a:rPr err="1"/>
              <a:t>begrænset</a:t>
            </a:r>
            <a:r>
              <a:t> </a:t>
            </a:r>
            <a:r>
              <a:rPr err="1"/>
              <a:t>og</a:t>
            </a:r>
            <a:r>
              <a:t> vise </a:t>
            </a:r>
            <a:r>
              <a:rPr err="1"/>
              <a:t>næste</a:t>
            </a:r>
            <a:r>
              <a:t> </a:t>
            </a:r>
            <a:r>
              <a:rPr err="1"/>
              <a:t>skridt</a:t>
            </a:r>
            <a:r>
              <a:t>.</a:t>
            </a:r>
          </a:p>
          <a:p>
            <a:endParaRPr/>
          </a:p>
          <a:p>
            <a:r>
              <a:t>Source: </a:t>
            </a:r>
            <a:r>
              <a:rPr err="1"/>
              <a:t>neural_network.ipynb</a:t>
            </a:r>
            <a:r>
              <a:t>, uploaded 19 Oct 2026. Saved outputs, not a new model run.</a:t>
            </a:r>
          </a:p>
          <a:p>
            <a:r>
              <a:t>Source: </a:t>
            </a:r>
            <a:r>
              <a:rPr err="1"/>
              <a:t>decision_tree.ipynb</a:t>
            </a:r>
            <a:r>
              <a:t>, uploaded 19 Oct 2026. Saved outputs, not a new model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BACKUP: uden for de 10 minutter.</a:t>
            </a:r>
          </a:p>
          <a:p>
            <a:endParaRPr/>
          </a:p>
          <a:p>
            <a:r>
              <a:t>Svar uden AUC/R² medmindre direktøren beder om teknisk dokumentation.</a:t>
            </a:r>
          </a:p>
          <a:p>
            <a:endParaRPr/>
          </a:p>
          <a:p>
            <a:r>
              <a:t>Source: neural_network.ipynb, uploaded 19 Oct 2026. Saved outputs, not a new model run.</a:t>
            </a:r>
          </a:p>
          <a:p>
            <a:r>
              <a:t>Source: decision_tree.ipynb, uploaded 19 Oct 2026. Saved outputs, not a new model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BACKUP: uden for de 10 minutter.</a:t>
            </a:r>
          </a:p>
          <a:p>
            <a:endParaRPr/>
          </a:p>
          <a:p>
            <a:r>
              <a:t>Originale notebook-matricer, som underbygger slide3. Behold nævnere tydelige. Forklar grøn/rød ikke nødvendig: de to off-diagonaler er fejl. NN TP5672 TN4962 og DT TP5495 TN4781.</a:t>
            </a:r>
          </a:p>
          <a:p>
            <a:endParaRPr/>
          </a:p>
          <a:p>
            <a:r>
              <a:t>Source: neural_network.ipynb, uploaded 19 Oct 2026. Saved outputs, not a new model run.</a:t>
            </a:r>
          </a:p>
          <a:p>
            <a:r>
              <a:t>Source: decision_tree.ipynb, uploaded 19 Oct 2026. Saved outputs, not a new model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C2B137D-7BAB-4C49-9CFE-1EA83B5D2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EE81A3B3-85B0-4BCE-A214-A72D365879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5224FFC2-DD0A-4645-930B-E2C33D7A8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0B29A74-C1EE-4511-830D-725627726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8E93B7AD-E893-4E28-A930-BE832AF05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1395627-665F-4A77-853E-4D64E8B64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4F32843-79E7-44F7-987E-560622FCF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58540F95-24E6-4E79-AC7C-ECF7B736A5D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911C1E0-6A12-4D1D-82AC-2CF242FA0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6F31969-5680-4538-B4A3-E63095EE59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lede 7">
            <a:extLst>
              <a:ext uri="{FF2B5EF4-FFF2-40B4-BE49-F238E27FC236}">
                <a16:creationId xmlns:a16="http://schemas.microsoft.com/office/drawing/2014/main" id="{7705031D-054E-4E3E-8942-EE6B7D892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" name="content-background">
            <a:extLst>
              <a:ext uri="{FF2B5EF4-FFF2-40B4-BE49-F238E27FC236}">
                <a16:creationId xmlns:a16="http://schemas.microsoft.com/office/drawing/2014/main" id="{6A9BDE93-658A-4413-A8DF-C3DBA875C4F6}"/>
              </a:ext>
            </a:extLst>
          </p:cNvPr>
          <p:cNvSpPr>
            <a:spLocks noGrp="1"/>
          </p:cNvSpPr>
          <p:nvPr/>
        </p:nvSpPr>
        <p:spPr>
          <a:xfrm>
            <a:off x="333375" y="266700"/>
            <a:ext cx="11525250" cy="6324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3" name="text-1">
            <a:extLst>
              <a:ext uri="{FF2B5EF4-FFF2-40B4-BE49-F238E27FC236}">
                <a16:creationId xmlns:a16="http://schemas.microsoft.com/office/drawing/2014/main" id="{062CD5DB-8D72-45C3-9A57-D006FF96620D}"/>
              </a:ext>
            </a:extLst>
          </p:cNvPr>
          <p:cNvSpPr>
            <a:spLocks noGrp="1"/>
          </p:cNvSpPr>
          <p:nvPr/>
        </p:nvSpPr>
        <p:spPr>
          <a:xfrm>
            <a:off x="666750" y="542925"/>
            <a:ext cx="10858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Director of the patient organization</a:t>
            </a: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BEBF630C-25DF-4A08-84CF-462665C89A89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rPr>
              <a:t>2 Director   /   1</a:t>
            </a:r>
          </a:p>
        </p:txBody>
      </p:sp>
      <p:sp>
        <p:nvSpPr>
          <p:cNvPr id="5" name="text-3">
            <a:extLst>
              <a:ext uri="{FF2B5EF4-FFF2-40B4-BE49-F238E27FC236}">
                <a16:creationId xmlns:a16="http://schemas.microsoft.com/office/drawing/2014/main" id="{5C22C804-4631-493E-9A73-E4CF83BD55A1}"/>
              </a:ext>
            </a:extLst>
          </p:cNvPr>
          <p:cNvSpPr>
            <a:spLocks noGrp="1"/>
          </p:cNvSpPr>
          <p:nvPr/>
        </p:nvSpPr>
        <p:spPr>
          <a:xfrm>
            <a:off x="714375" y="1809750"/>
            <a:ext cx="10477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48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48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48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48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48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48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48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48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48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48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48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4800" b="1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XAI/UX</a:t>
            </a:r>
          </a:p>
        </p:txBody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A3ED9795-364C-4BA5-88AA-8C8CEEFD4F13}"/>
              </a:ext>
            </a:extLst>
          </p:cNvPr>
          <p:cNvSpPr>
            <a:spLocks noGrp="1"/>
          </p:cNvSpPr>
          <p:nvPr/>
        </p:nvSpPr>
        <p:spPr>
          <a:xfrm>
            <a:off x="714375" y="2857500"/>
            <a:ext cx="10477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1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31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31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31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31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31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31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31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31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31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31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3150" b="0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Evidence, reliability and a responsible next step</a:t>
            </a:r>
          </a:p>
        </p:txBody>
      </p:sp>
      <p:sp>
        <p:nvSpPr>
          <p:cNvPr id="7" name="text-5">
            <a:extLst>
              <a:ext uri="{FF2B5EF4-FFF2-40B4-BE49-F238E27FC236}">
                <a16:creationId xmlns:a16="http://schemas.microsoft.com/office/drawing/2014/main" id="{2EA89912-98D6-42B1-9E58-6F30C05C3081}"/>
              </a:ext>
            </a:extLst>
          </p:cNvPr>
          <p:cNvSpPr>
            <a:spLocks noGrp="1"/>
          </p:cNvSpPr>
          <p:nvPr/>
        </p:nvSpPr>
        <p:spPr>
          <a:xfrm>
            <a:off x="714375" y="5219700"/>
            <a:ext cx="1047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8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8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8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8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8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8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8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8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8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8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Group 12: Rasmus, Victor, Magnus &amp; Louise</a:t>
            </a:r>
          </a:p>
        </p:txBody>
      </p:sp>
    </p:spTree>
    <p:extLst>
      <p:ext uri="{BB962C8B-B14F-4D97-AF65-F5344CB8AC3E}">
        <p14:creationId xmlns:p14="http://schemas.microsoft.com/office/powerpoint/2010/main" val="191954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lede 8">
            <a:extLst>
              <a:ext uri="{FF2B5EF4-FFF2-40B4-BE49-F238E27FC236}">
                <a16:creationId xmlns:a16="http://schemas.microsoft.com/office/drawing/2014/main" id="{397AFB06-FF9E-492B-810D-BFD06EA31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" name="content-background">
            <a:extLst>
              <a:ext uri="{FF2B5EF4-FFF2-40B4-BE49-F238E27FC236}">
                <a16:creationId xmlns:a16="http://schemas.microsoft.com/office/drawing/2014/main" id="{1E7D2B41-27D2-4758-8DB1-4E94749A6A1A}"/>
              </a:ext>
            </a:extLst>
          </p:cNvPr>
          <p:cNvSpPr>
            <a:spLocks noGrp="1"/>
          </p:cNvSpPr>
          <p:nvPr/>
        </p:nvSpPr>
        <p:spPr>
          <a:xfrm>
            <a:off x="333375" y="266700"/>
            <a:ext cx="11525250" cy="6324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3" name="text-1">
            <a:extLst>
              <a:ext uri="{FF2B5EF4-FFF2-40B4-BE49-F238E27FC236}">
                <a16:creationId xmlns:a16="http://schemas.microsoft.com/office/drawing/2014/main" id="{BBA79725-4A2F-4B88-80CA-4F37FF5C02E7}"/>
              </a:ext>
            </a:extLst>
          </p:cNvPr>
          <p:cNvSpPr>
            <a:spLocks noGrp="1"/>
          </p:cNvSpPr>
          <p:nvPr/>
        </p:nvSpPr>
        <p:spPr>
          <a:xfrm>
            <a:off x="666750" y="542925"/>
            <a:ext cx="10858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What the prototype measures</a:t>
            </a:r>
            <a:endParaRPr lang="da-DK" sz="3300" b="1">
              <a:solidFill>
                <a:srgbClr val="08205E"/>
              </a:solidFill>
              <a:latin typeface="Nimbus Sans"/>
              <a:ea typeface="Nimbus Sans"/>
              <a:cs typeface="Nimbus Sans"/>
            </a:endParaRP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2B871673-3AEC-456C-B419-0424AC98936F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rPr>
              <a:t>2 Director   /   2</a:t>
            </a:r>
          </a:p>
        </p:txBody>
      </p:sp>
      <p:sp>
        <p:nvSpPr>
          <p:cNvPr id="5" name="text-3">
            <a:extLst>
              <a:ext uri="{FF2B5EF4-FFF2-40B4-BE49-F238E27FC236}">
                <a16:creationId xmlns:a16="http://schemas.microsoft.com/office/drawing/2014/main" id="{17A92212-EB7E-4C1B-A1A9-123FCF5A84FF}"/>
              </a:ext>
            </a:extLst>
          </p:cNvPr>
          <p:cNvSpPr>
            <a:spLocks noGrp="1"/>
          </p:cNvSpPr>
          <p:nvPr/>
        </p:nvSpPr>
        <p:spPr>
          <a:xfrm>
            <a:off x="714375" y="1714500"/>
            <a:ext cx="10668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lang="da-DK" sz="2300"/>
              <a:t>70,692</a:t>
            </a:r>
            <a:r>
              <a:rPr sz="2300" b="0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 survey participants and 21 health indicators.</a:t>
            </a:r>
          </a:p>
        </p:txBody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DC94F0EF-5505-430F-B377-0610529CED98}"/>
              </a:ext>
            </a:extLst>
          </p:cNvPr>
          <p:cNvSpPr>
            <a:spLocks noGrp="1"/>
          </p:cNvSpPr>
          <p:nvPr/>
        </p:nvSpPr>
        <p:spPr>
          <a:xfrm>
            <a:off x="714375" y="2667000"/>
            <a:ext cx="10668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Two models classify reported prediabetes or diabetes.</a:t>
            </a:r>
          </a:p>
        </p:txBody>
      </p:sp>
      <p:sp>
        <p:nvSpPr>
          <p:cNvPr id="7" name="text-5">
            <a:extLst>
              <a:ext uri="{FF2B5EF4-FFF2-40B4-BE49-F238E27FC236}">
                <a16:creationId xmlns:a16="http://schemas.microsoft.com/office/drawing/2014/main" id="{573BAA0D-9BFB-4AEF-8BB0-023F3BE2EE80}"/>
              </a:ext>
            </a:extLst>
          </p:cNvPr>
          <p:cNvSpPr>
            <a:spLocks noGrp="1"/>
          </p:cNvSpPr>
          <p:nvPr/>
        </p:nvSpPr>
        <p:spPr>
          <a:xfrm>
            <a:off x="714375" y="3619500"/>
            <a:ext cx="10668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2300" b="0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The study deliberately includes equal numbers in each class.</a:t>
            </a:r>
            <a:r>
              <a:rPr lang="da-DK" sz="2300"/>
              <a:t> </a:t>
            </a:r>
            <a:endParaRPr sz="2325" b="0">
              <a:solidFill>
                <a:srgbClr val="08205E"/>
              </a:solidFill>
              <a:latin typeface="Nimbus Sans"/>
              <a:ea typeface="Nimbus Sans"/>
              <a:cs typeface="Nimbus Sans"/>
            </a:endParaRPr>
          </a:p>
        </p:txBody>
      </p:sp>
    </p:spTree>
    <p:extLst>
      <p:ext uri="{BB962C8B-B14F-4D97-AF65-F5344CB8AC3E}">
        <p14:creationId xmlns:p14="http://schemas.microsoft.com/office/powerpoint/2010/main" val="1192207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lede 8">
            <a:extLst>
              <a:ext uri="{FF2B5EF4-FFF2-40B4-BE49-F238E27FC236}">
                <a16:creationId xmlns:a16="http://schemas.microsoft.com/office/drawing/2014/main" id="{AA368C31-0FB8-4140-8CA5-EEAED65E33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-6719" y="0"/>
            <a:ext cx="12187076" cy="6858000"/>
          </a:xfrm>
          <a:prstGeom prst="rect">
            <a:avLst/>
          </a:prstGeom>
        </p:spPr>
      </p:pic>
      <p:sp>
        <p:nvSpPr>
          <p:cNvPr id="15" name="Rektangel 14">
            <a:extLst>
              <a:ext uri="{FF2B5EF4-FFF2-40B4-BE49-F238E27FC236}">
                <a16:creationId xmlns:a16="http://schemas.microsoft.com/office/drawing/2014/main" id="{674E2CD1-D4BE-0BB5-83EE-669ABB1774D8}"/>
              </a:ext>
            </a:extLst>
          </p:cNvPr>
          <p:cNvSpPr/>
          <p:nvPr/>
        </p:nvSpPr>
        <p:spPr>
          <a:xfrm>
            <a:off x="7436385" y="2497156"/>
            <a:ext cx="2240096" cy="24053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text-1">
            <a:extLst>
              <a:ext uri="{FF2B5EF4-FFF2-40B4-BE49-F238E27FC236}">
                <a16:creationId xmlns:a16="http://schemas.microsoft.com/office/drawing/2014/main" id="{A28A1B3A-27BA-467F-847A-9E7C4051959F}"/>
              </a:ext>
            </a:extLst>
          </p:cNvPr>
          <p:cNvSpPr>
            <a:spLocks noGrp="1"/>
          </p:cNvSpPr>
          <p:nvPr/>
        </p:nvSpPr>
        <p:spPr>
          <a:xfrm>
            <a:off x="666750" y="542925"/>
            <a:ext cx="10858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The neural network makes fewer test errors</a:t>
            </a: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B6099D87-FB44-4EFF-99D8-AD770BF690E1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rPr>
              <a:t>2 Director   /   3</a:t>
            </a:r>
          </a:p>
        </p:txBody>
      </p:sp>
      <p:graphicFrame>
        <p:nvGraphicFramePr>
          <p:cNvPr id="5" name="Chart">
            <a:extLst>
              <a:ext uri="{FF2B5EF4-FFF2-40B4-BE49-F238E27FC236}">
                <a16:creationId xmlns:a16="http://schemas.microsoft.com/office/drawing/2014/main" id="{8EEF9C76-A003-4C34-A831-2F4B4D39495E}"/>
              </a:ext>
            </a:extLst>
          </p:cNvPr>
          <p:cNvGraphicFramePr/>
          <p:nvPr/>
        </p:nvGraphicFramePr>
        <p:xfrm>
          <a:off x="619125" y="1762125"/>
          <a:ext cx="7524750" cy="3667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-4">
            <a:extLst>
              <a:ext uri="{FF2B5EF4-FFF2-40B4-BE49-F238E27FC236}">
                <a16:creationId xmlns:a16="http://schemas.microsoft.com/office/drawing/2014/main" id="{30B93710-3875-4333-BDC3-E83D1E557415}"/>
              </a:ext>
            </a:extLst>
          </p:cNvPr>
          <p:cNvSpPr>
            <a:spLocks noGrp="1"/>
          </p:cNvSpPr>
          <p:nvPr/>
        </p:nvSpPr>
        <p:spPr>
          <a:xfrm>
            <a:off x="9831178" y="4048234"/>
            <a:ext cx="2952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lang="da-DK"/>
              <a:t>Decision Tree</a:t>
            </a:r>
            <a:endParaRPr lang="da-DK" sz="1950" b="0">
              <a:solidFill>
                <a:srgbClr val="08205E"/>
              </a:solidFill>
              <a:latin typeface="Nimbus Sans"/>
              <a:ea typeface="Nimbus Sans"/>
              <a:cs typeface="Nimbus Sans"/>
            </a:endParaRPr>
          </a:p>
          <a:p>
            <a: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in this test sample</a:t>
            </a:r>
          </a:p>
        </p:txBody>
      </p:sp>
      <p:sp>
        <p:nvSpPr>
          <p:cNvPr id="8" name="text-5">
            <a:extLst>
              <a:ext uri="{FF2B5EF4-FFF2-40B4-BE49-F238E27FC236}">
                <a16:creationId xmlns:a16="http://schemas.microsoft.com/office/drawing/2014/main" id="{61C33C4A-6AE3-4EE2-82BB-7D5BBE6B5804}"/>
              </a:ext>
            </a:extLst>
          </p:cNvPr>
          <p:cNvSpPr>
            <a:spLocks noGrp="1"/>
          </p:cNvSpPr>
          <p:nvPr/>
        </p:nvSpPr>
        <p:spPr>
          <a:xfrm>
            <a:off x="714375" y="5810250"/>
            <a:ext cx="10763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57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57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57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57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57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57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57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57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57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57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57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pPr>
            <a:r>
              <a:rPr sz="1550" b="0">
                <a:solidFill>
                  <a:srgbClr val="46536A"/>
                </a:solidFill>
                <a:latin typeface="Nimbus Sans"/>
                <a:ea typeface="Nimbus Sans"/>
                <a:cs typeface="Nimbus Sans"/>
              </a:rPr>
              <a:t>¹ Among 7,069 people with the label</a:t>
            </a:r>
            <a:r>
              <a:rPr lang="da-DK" sz="1550"/>
              <a:t> and among</a:t>
            </a:r>
            <a:r>
              <a:rPr sz="1550" b="0">
                <a:solidFill>
                  <a:srgbClr val="46536A"/>
                </a:solidFill>
                <a:latin typeface="Nimbus Sans"/>
                <a:ea typeface="Nimbus Sans"/>
                <a:cs typeface="Nimbus Sans"/>
              </a:rPr>
              <a:t> 7,070 people without </a:t>
            </a:r>
            <a:r>
              <a:rPr lang="da-DK" sz="1550"/>
              <a:t>it in percent</a:t>
            </a:r>
            <a:r>
              <a:rPr sz="1550" b="0">
                <a:solidFill>
                  <a:srgbClr val="46536A"/>
                </a:solidFill>
                <a:latin typeface="Nimbus Sans"/>
                <a:ea typeface="Nimbus Sans"/>
                <a:cs typeface="Nimbus Sans"/>
              </a:rPr>
              <a:t>.</a:t>
            </a:r>
          </a:p>
        </p:txBody>
      </p:sp>
      <p:sp>
        <p:nvSpPr>
          <p:cNvPr id="10" name="text-3">
            <a:extLst>
              <a:ext uri="{FF2B5EF4-FFF2-40B4-BE49-F238E27FC236}">
                <a16:creationId xmlns:a16="http://schemas.microsoft.com/office/drawing/2014/main" id="{666D73AD-11AF-6FD4-240E-A1019B242789}"/>
              </a:ext>
            </a:extLst>
          </p:cNvPr>
          <p:cNvSpPr>
            <a:spLocks noGrp="1"/>
          </p:cNvSpPr>
          <p:nvPr/>
        </p:nvSpPr>
        <p:spPr>
          <a:xfrm>
            <a:off x="8142007" y="2099235"/>
            <a:ext cx="295275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7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7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7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7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7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7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7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7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7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7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7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2700" b="1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About 75 of 100</a:t>
            </a:r>
          </a:p>
          <a:p>
            <a:pPr>
              <a:defRPr sz="27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2700" b="1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classified correctly</a:t>
            </a:r>
          </a:p>
        </p:txBody>
      </p:sp>
      <p:sp>
        <p:nvSpPr>
          <p:cNvPr id="11" name="text-4">
            <a:extLst>
              <a:ext uri="{FF2B5EF4-FFF2-40B4-BE49-F238E27FC236}">
                <a16:creationId xmlns:a16="http://schemas.microsoft.com/office/drawing/2014/main" id="{7FC2DB7D-F5B0-B366-7684-691065A7561B}"/>
              </a:ext>
            </a:extLst>
          </p:cNvPr>
          <p:cNvSpPr>
            <a:spLocks noGrp="1"/>
          </p:cNvSpPr>
          <p:nvPr/>
        </p:nvSpPr>
        <p:spPr>
          <a:xfrm>
            <a:off x="9831178" y="2666175"/>
            <a:ext cx="2952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lang="da-DK"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Neural </a:t>
            </a:r>
            <a:r>
              <a:rPr lang="da-DK" sz="1950" b="0" err="1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network</a:t>
            </a:r>
            <a:endParaRPr lang="da-DK" sz="1950" b="0">
              <a:solidFill>
                <a:srgbClr val="08205E"/>
              </a:solidFill>
              <a:latin typeface="Nimbus Sans"/>
              <a:ea typeface="Nimbus Sans"/>
              <a:cs typeface="Nimbus Sans"/>
            </a:endParaRPr>
          </a:p>
          <a:p>
            <a: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lang="da-DK"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in </a:t>
            </a:r>
            <a:r>
              <a:rPr lang="da-DK" sz="1950" b="0" err="1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this</a:t>
            </a:r>
            <a:r>
              <a:rPr lang="da-DK"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 test sample</a:t>
            </a:r>
          </a:p>
        </p:txBody>
      </p:sp>
      <p:sp>
        <p:nvSpPr>
          <p:cNvPr id="16" name="text-3">
            <a:extLst>
              <a:ext uri="{FF2B5EF4-FFF2-40B4-BE49-F238E27FC236}">
                <a16:creationId xmlns:a16="http://schemas.microsoft.com/office/drawing/2014/main" id="{489AD8C6-DB53-B121-ACA2-0C1075DE7F30}"/>
              </a:ext>
            </a:extLst>
          </p:cNvPr>
          <p:cNvSpPr>
            <a:spLocks noGrp="1"/>
          </p:cNvSpPr>
          <p:nvPr/>
        </p:nvSpPr>
        <p:spPr>
          <a:xfrm>
            <a:off x="8142006" y="3457981"/>
            <a:ext cx="295275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7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7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7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7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7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7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7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7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7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7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7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2700" b="1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About </a:t>
            </a:r>
            <a:r>
              <a:rPr lang="da-DK"/>
              <a:t>73</a:t>
            </a:r>
            <a:r>
              <a:rPr sz="2700" b="1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 of 100</a:t>
            </a:r>
          </a:p>
          <a:p>
            <a:pPr>
              <a:defRPr sz="27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2700" b="1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classified correctly</a:t>
            </a:r>
          </a:p>
        </p:txBody>
      </p:sp>
    </p:spTree>
    <p:extLst>
      <p:ext uri="{BB962C8B-B14F-4D97-AF65-F5344CB8AC3E}">
        <p14:creationId xmlns:p14="http://schemas.microsoft.com/office/powerpoint/2010/main" val="1671469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lede 6">
            <a:extLst>
              <a:ext uri="{FF2B5EF4-FFF2-40B4-BE49-F238E27FC236}">
                <a16:creationId xmlns:a16="http://schemas.microsoft.com/office/drawing/2014/main" id="{89FCF3EC-66A0-449B-932B-9B967107A9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" name="content-background">
            <a:extLst>
              <a:ext uri="{FF2B5EF4-FFF2-40B4-BE49-F238E27FC236}">
                <a16:creationId xmlns:a16="http://schemas.microsoft.com/office/drawing/2014/main" id="{57F496CF-06CE-4D45-B9D7-FF4C7D15A612}"/>
              </a:ext>
            </a:extLst>
          </p:cNvPr>
          <p:cNvSpPr>
            <a:spLocks noGrp="1"/>
          </p:cNvSpPr>
          <p:nvPr/>
        </p:nvSpPr>
        <p:spPr>
          <a:xfrm>
            <a:off x="333375" y="266700"/>
            <a:ext cx="11525250" cy="6324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3" name="text-1">
            <a:extLst>
              <a:ext uri="{FF2B5EF4-FFF2-40B4-BE49-F238E27FC236}">
                <a16:creationId xmlns:a16="http://schemas.microsoft.com/office/drawing/2014/main" id="{993E0B82-6F4A-46A9-8A2A-1BF6ABCA5860}"/>
              </a:ext>
            </a:extLst>
          </p:cNvPr>
          <p:cNvSpPr>
            <a:spLocks noGrp="1"/>
          </p:cNvSpPr>
          <p:nvPr/>
        </p:nvSpPr>
        <p:spPr>
          <a:xfrm>
            <a:off x="666750" y="542925"/>
            <a:ext cx="10858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One case illustrates both agreement and limits</a:t>
            </a: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A6F6DEDD-2531-4507-817D-8C2A2241FC8F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rPr>
              <a:t>2 Director   /   5</a:t>
            </a:r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2AAB3DD0-64AE-4E1B-8C90-9ADD5AA69757}"/>
              </a:ext>
            </a:extLst>
          </p:cNvPr>
          <p:cNvGraphicFramePr/>
          <p:nvPr/>
        </p:nvGraphicFramePr>
        <p:xfrm>
          <a:off x="666750" y="1666875"/>
          <a:ext cx="10858500" cy="3476628"/>
        </p:xfrm>
        <a:graphic>
          <a:graphicData uri="http://schemas.openxmlformats.org/drawingml/2006/table">
            <a:tbl>
              <a:tblPr/>
              <a:tblGrid>
                <a:gridCol w="438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4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Example person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>
                      <a:solidFill>
                        <a:srgbClr val="D5DEEF"/>
                      </a:solidFill>
                      <a:prstDash val="soli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3B5DA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Recorded information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>
                      <a:solidFill>
                        <a:srgbClr val="D5DEEF"/>
                      </a:solidFill>
                      <a:prstDash val="soli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3B5D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Age / sex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65–69 / female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Body mass index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53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Blood pressure / cholesterol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Reported high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Actual survey status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Prediabetes or diabetes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Model scores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NN 0.8854 / tree 0.8526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-3">
            <a:extLst>
              <a:ext uri="{FF2B5EF4-FFF2-40B4-BE49-F238E27FC236}">
                <a16:creationId xmlns:a16="http://schemas.microsoft.com/office/drawing/2014/main" id="{7A6A939E-FB13-43BE-AA84-A5DACEDB9A69}"/>
              </a:ext>
            </a:extLst>
          </p:cNvPr>
          <p:cNvSpPr>
            <a:spLocks noGrp="1"/>
          </p:cNvSpPr>
          <p:nvPr/>
        </p:nvSpPr>
        <p:spPr>
          <a:xfrm>
            <a:off x="714375" y="5572125"/>
            <a:ext cx="10668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Both identify this case correctly. Neither score establishes future risk.</a:t>
            </a:r>
          </a:p>
        </p:txBody>
      </p:sp>
    </p:spTree>
    <p:extLst>
      <p:ext uri="{BB962C8B-B14F-4D97-AF65-F5344CB8AC3E}">
        <p14:creationId xmlns:p14="http://schemas.microsoft.com/office/powerpoint/2010/main" val="1738668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lede 6">
            <a:extLst>
              <a:ext uri="{FF2B5EF4-FFF2-40B4-BE49-F238E27FC236}">
                <a16:creationId xmlns:a16="http://schemas.microsoft.com/office/drawing/2014/main" id="{2C6BDBEF-8AE7-4541-A635-F741060DFD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" name="content-background">
            <a:extLst>
              <a:ext uri="{FF2B5EF4-FFF2-40B4-BE49-F238E27FC236}">
                <a16:creationId xmlns:a16="http://schemas.microsoft.com/office/drawing/2014/main" id="{4A494027-9B9D-40E5-AD3E-BB1DCE84B696}"/>
              </a:ext>
            </a:extLst>
          </p:cNvPr>
          <p:cNvSpPr>
            <a:spLocks noGrp="1"/>
          </p:cNvSpPr>
          <p:nvPr/>
        </p:nvSpPr>
        <p:spPr>
          <a:xfrm>
            <a:off x="333375" y="266700"/>
            <a:ext cx="11525250" cy="6324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3" name="text-1">
            <a:extLst>
              <a:ext uri="{FF2B5EF4-FFF2-40B4-BE49-F238E27FC236}">
                <a16:creationId xmlns:a16="http://schemas.microsoft.com/office/drawing/2014/main" id="{2235C17A-37D8-43FC-958E-E2F754B3CCE9}"/>
              </a:ext>
            </a:extLst>
          </p:cNvPr>
          <p:cNvSpPr>
            <a:spLocks noGrp="1"/>
          </p:cNvSpPr>
          <p:nvPr/>
        </p:nvSpPr>
        <p:spPr>
          <a:xfrm>
            <a:off x="666750" y="542925"/>
            <a:ext cx="10858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The models use plausible health patterns</a:t>
            </a: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20E9DC26-8AA9-4393-9A24-4B3E11120F32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rPr>
              <a:t>2 Director   /   4</a:t>
            </a:r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4285D5F2-F472-4F92-A1E8-5B87207427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6158719"/>
              </p:ext>
            </p:extLst>
          </p:nvPr>
        </p:nvGraphicFramePr>
        <p:xfrm>
          <a:off x="666750" y="1666875"/>
          <a:ext cx="10858500" cy="3476628"/>
        </p:xfrm>
        <a:graphic>
          <a:graphicData uri="http://schemas.openxmlformats.org/drawingml/2006/table">
            <a:tbl>
              <a:tblPr/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43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Most influential in the </a:t>
                      </a:r>
                      <a:r>
                        <a:rPr lang="da-DK" sz="195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40-person</a:t>
                      </a:r>
                      <a:r>
                        <a:rPr sz="195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 </a:t>
                      </a:r>
                      <a:r>
                        <a:rPr lang="da-DK" sz="195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test sample</a:t>
                      </a:r>
                      <a:endParaRPr sz="1950" b="1">
                        <a:solidFill>
                          <a:srgbClr val="FFFFFF"/>
                        </a:solidFill>
                        <a:latin typeface="Nimbus Sans"/>
                        <a:ea typeface="Nimbus Sans"/>
                        <a:cs typeface="Nimbus Sans"/>
                      </a:endParaRP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>
                      <a:solidFill>
                        <a:srgbClr val="D5DEEF"/>
                      </a:solidFill>
                      <a:prstDash val="soli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3B5DA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Neural network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>
                      <a:solidFill>
                        <a:srgbClr val="D5DEEF"/>
                      </a:solidFill>
                      <a:prstDash val="soli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3B5DA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Decision tree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>
                      <a:solidFill>
                        <a:srgbClr val="D5DEEF"/>
                      </a:solidFill>
                      <a:prstDash val="soli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3B5D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General health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1st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1st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Body mass index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2nd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3rd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Age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3rd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5th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High blood pressure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4th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2nd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High cholesterol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5th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4th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-3">
            <a:extLst>
              <a:ext uri="{FF2B5EF4-FFF2-40B4-BE49-F238E27FC236}">
                <a16:creationId xmlns:a16="http://schemas.microsoft.com/office/drawing/2014/main" id="{88212E4F-5DD8-4288-A686-000CFB7CEFAD}"/>
              </a:ext>
            </a:extLst>
          </p:cNvPr>
          <p:cNvSpPr>
            <a:spLocks noGrp="1"/>
          </p:cNvSpPr>
          <p:nvPr/>
        </p:nvSpPr>
        <p:spPr>
          <a:xfrm>
            <a:off x="714375" y="5572125"/>
            <a:ext cx="10668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1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1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1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1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1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1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1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1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1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1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Recognizable patterns support further investigation. They do not prove causation.</a:t>
            </a:r>
          </a:p>
        </p:txBody>
      </p:sp>
    </p:spTree>
    <p:extLst>
      <p:ext uri="{BB962C8B-B14F-4D97-AF65-F5344CB8AC3E}">
        <p14:creationId xmlns:p14="http://schemas.microsoft.com/office/powerpoint/2010/main" val="1398637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lede 8">
            <a:extLst>
              <a:ext uri="{FF2B5EF4-FFF2-40B4-BE49-F238E27FC236}">
                <a16:creationId xmlns:a16="http://schemas.microsoft.com/office/drawing/2014/main" id="{9AA25C60-FE8E-4C93-9B13-2F2A227A2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" name="content-background">
            <a:extLst>
              <a:ext uri="{FF2B5EF4-FFF2-40B4-BE49-F238E27FC236}">
                <a16:creationId xmlns:a16="http://schemas.microsoft.com/office/drawing/2014/main" id="{4F639EBE-864C-427B-B0BD-BBE78766CC39}"/>
              </a:ext>
            </a:extLst>
          </p:cNvPr>
          <p:cNvSpPr>
            <a:spLocks noGrp="1"/>
          </p:cNvSpPr>
          <p:nvPr/>
        </p:nvSpPr>
        <p:spPr>
          <a:xfrm>
            <a:off x="333375" y="266700"/>
            <a:ext cx="11525250" cy="6324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3" name="text-1">
            <a:extLst>
              <a:ext uri="{FF2B5EF4-FFF2-40B4-BE49-F238E27FC236}">
                <a16:creationId xmlns:a16="http://schemas.microsoft.com/office/drawing/2014/main" id="{71194BAD-2F4C-477D-B372-61C2AB9A1AA8}"/>
              </a:ext>
            </a:extLst>
          </p:cNvPr>
          <p:cNvSpPr>
            <a:spLocks noGrp="1"/>
          </p:cNvSpPr>
          <p:nvPr/>
        </p:nvSpPr>
        <p:spPr>
          <a:xfrm>
            <a:off x="666750" y="542925"/>
            <a:ext cx="10858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Reliability has clear limits</a:t>
            </a: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43124E78-5F39-4402-984B-AC5636BBE856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rPr>
              <a:t>2 Director   /   6</a:t>
            </a:r>
          </a:p>
        </p:txBody>
      </p:sp>
      <p:sp>
        <p:nvSpPr>
          <p:cNvPr id="5" name="text-3">
            <a:extLst>
              <a:ext uri="{FF2B5EF4-FFF2-40B4-BE49-F238E27FC236}">
                <a16:creationId xmlns:a16="http://schemas.microsoft.com/office/drawing/2014/main" id="{C1C1B839-EECD-4214-9BFA-7ED39165E26E}"/>
              </a:ext>
            </a:extLst>
          </p:cNvPr>
          <p:cNvSpPr>
            <a:spLocks noGrp="1"/>
          </p:cNvSpPr>
          <p:nvPr/>
        </p:nvSpPr>
        <p:spPr>
          <a:xfrm>
            <a:off x="714375" y="1666875"/>
            <a:ext cx="1066800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2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2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2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2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2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2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2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2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2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2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2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Some people with the condition receive a low score.</a:t>
            </a:r>
          </a:p>
        </p:txBody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5277408D-061E-43E3-B95E-4973D0FA3512}"/>
              </a:ext>
            </a:extLst>
          </p:cNvPr>
          <p:cNvSpPr>
            <a:spLocks noGrp="1"/>
          </p:cNvSpPr>
          <p:nvPr/>
        </p:nvSpPr>
        <p:spPr>
          <a:xfrm>
            <a:off x="714375" y="2492566"/>
            <a:ext cx="1066800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2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2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2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2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2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2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2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2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2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2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2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The simple explanation differs from the NN score by 12.31 points on average for this case.</a:t>
            </a:r>
          </a:p>
        </p:txBody>
      </p:sp>
      <p:sp>
        <p:nvSpPr>
          <p:cNvPr id="7" name="text-5">
            <a:extLst>
              <a:ext uri="{FF2B5EF4-FFF2-40B4-BE49-F238E27FC236}">
                <a16:creationId xmlns:a16="http://schemas.microsoft.com/office/drawing/2014/main" id="{EAFD7FA2-F5F7-410D-90EF-20DCBC05763C}"/>
              </a:ext>
            </a:extLst>
          </p:cNvPr>
          <p:cNvSpPr>
            <a:spLocks noGrp="1"/>
          </p:cNvSpPr>
          <p:nvPr/>
        </p:nvSpPr>
        <p:spPr>
          <a:xfrm>
            <a:off x="714375" y="3667125"/>
            <a:ext cx="1066800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2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2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2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2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2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2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2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2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2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2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2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We have not established reliability across patient groups.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D5358114-3CCF-47F9-999E-BC0FC2109917}"/>
              </a:ext>
            </a:extLst>
          </p:cNvPr>
          <p:cNvSpPr>
            <a:spLocks noGrp="1"/>
          </p:cNvSpPr>
          <p:nvPr/>
        </p:nvSpPr>
        <p:spPr>
          <a:xfrm>
            <a:off x="714375" y="4667250"/>
            <a:ext cx="1066800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2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2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2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2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2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2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2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2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2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2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2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Results come from a balanced historical US sample.</a:t>
            </a:r>
          </a:p>
        </p:txBody>
      </p:sp>
    </p:spTree>
    <p:extLst>
      <p:ext uri="{BB962C8B-B14F-4D97-AF65-F5344CB8AC3E}">
        <p14:creationId xmlns:p14="http://schemas.microsoft.com/office/powerpoint/2010/main" val="567084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lede 6">
            <a:extLst>
              <a:ext uri="{FF2B5EF4-FFF2-40B4-BE49-F238E27FC236}">
                <a16:creationId xmlns:a16="http://schemas.microsoft.com/office/drawing/2014/main" id="{060D03F3-A47F-4103-A840-AAEEDFECE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" name="content-background">
            <a:extLst>
              <a:ext uri="{FF2B5EF4-FFF2-40B4-BE49-F238E27FC236}">
                <a16:creationId xmlns:a16="http://schemas.microsoft.com/office/drawing/2014/main" id="{D8C0398C-0CD0-4FF9-B78E-EF0ED029FAB5}"/>
              </a:ext>
            </a:extLst>
          </p:cNvPr>
          <p:cNvSpPr>
            <a:spLocks noGrp="1"/>
          </p:cNvSpPr>
          <p:nvPr/>
        </p:nvSpPr>
        <p:spPr>
          <a:xfrm>
            <a:off x="333375" y="266700"/>
            <a:ext cx="11525250" cy="6324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3" name="text-1">
            <a:extLst>
              <a:ext uri="{FF2B5EF4-FFF2-40B4-BE49-F238E27FC236}">
                <a16:creationId xmlns:a16="http://schemas.microsoft.com/office/drawing/2014/main" id="{0266986B-D483-4E23-A42C-0995274F6BD5}"/>
              </a:ext>
            </a:extLst>
          </p:cNvPr>
          <p:cNvSpPr>
            <a:spLocks noGrp="1"/>
          </p:cNvSpPr>
          <p:nvPr/>
        </p:nvSpPr>
        <p:spPr>
          <a:xfrm>
            <a:off x="666750" y="542925"/>
            <a:ext cx="10858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A supervised evaluation is the next step</a:t>
            </a: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8A8E53A9-9AD9-49FA-B9E3-BB5CD04B93D8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rPr>
              <a:t>2 Director   /   7</a:t>
            </a:r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B434C541-2744-441B-9F80-846CB8841755}"/>
              </a:ext>
            </a:extLst>
          </p:cNvPr>
          <p:cNvGraphicFramePr/>
          <p:nvPr/>
        </p:nvGraphicFramePr>
        <p:xfrm>
          <a:off x="666750" y="1666875"/>
          <a:ext cx="10858500" cy="3667125"/>
        </p:xfrm>
        <a:graphic>
          <a:graphicData uri="http://schemas.openxmlformats.org/drawingml/2006/table">
            <a:tbl>
              <a:tblPr/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6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34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Before a patient-facing launch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>
                      <a:solidFill>
                        <a:srgbClr val="D5DEEF"/>
                      </a:solidFill>
                      <a:prstDash val="soli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3B5DA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Decision evidence needed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>
                      <a:solidFill>
                        <a:srgbClr val="D5DEEF"/>
                      </a:solidFill>
                      <a:prstDash val="soli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3B5D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Representative evaluation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Performance and score calibration in the intended population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Clinical and fairness review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Acceptable missed cases and subgroup differences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Patient comprehension test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People understand uncertainty and appropriate next steps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Operational evaluation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Staff workload, access barriers and actual benefit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-3">
            <a:extLst>
              <a:ext uri="{FF2B5EF4-FFF2-40B4-BE49-F238E27FC236}">
                <a16:creationId xmlns:a16="http://schemas.microsoft.com/office/drawing/2014/main" id="{BECE318D-9ABB-435F-A6B5-7D2226F0961A}"/>
              </a:ext>
            </a:extLst>
          </p:cNvPr>
          <p:cNvSpPr>
            <a:spLocks noGrp="1"/>
          </p:cNvSpPr>
          <p:nvPr/>
        </p:nvSpPr>
        <p:spPr>
          <a:xfrm>
            <a:off x="714375" y="5715000"/>
            <a:ext cx="1066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1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1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1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1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1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1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1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1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1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1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Proposal: fund evaluation. Current evidence does not justify clinical deployment.</a:t>
            </a:r>
          </a:p>
        </p:txBody>
      </p:sp>
    </p:spTree>
    <p:extLst>
      <p:ext uri="{BB962C8B-B14F-4D97-AF65-F5344CB8AC3E}">
        <p14:creationId xmlns:p14="http://schemas.microsoft.com/office/powerpoint/2010/main" val="1746185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lede 8">
            <a:extLst>
              <a:ext uri="{FF2B5EF4-FFF2-40B4-BE49-F238E27FC236}">
                <a16:creationId xmlns:a16="http://schemas.microsoft.com/office/drawing/2014/main" id="{999CE986-3C49-495F-8CAB-228D81DF4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" name="content-background">
            <a:extLst>
              <a:ext uri="{FF2B5EF4-FFF2-40B4-BE49-F238E27FC236}">
                <a16:creationId xmlns:a16="http://schemas.microsoft.com/office/drawing/2014/main" id="{8F98EBE2-3752-4A51-95E4-9088D42F87B1}"/>
              </a:ext>
            </a:extLst>
          </p:cNvPr>
          <p:cNvSpPr>
            <a:spLocks noGrp="1"/>
          </p:cNvSpPr>
          <p:nvPr/>
        </p:nvSpPr>
        <p:spPr>
          <a:xfrm>
            <a:off x="333375" y="266700"/>
            <a:ext cx="11525250" cy="6324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3" name="text-1">
            <a:extLst>
              <a:ext uri="{FF2B5EF4-FFF2-40B4-BE49-F238E27FC236}">
                <a16:creationId xmlns:a16="http://schemas.microsoft.com/office/drawing/2014/main" id="{92394D4D-2238-45B4-94B2-14ECE69EF767}"/>
              </a:ext>
            </a:extLst>
          </p:cNvPr>
          <p:cNvSpPr>
            <a:spLocks noGrp="1"/>
          </p:cNvSpPr>
          <p:nvPr/>
        </p:nvSpPr>
        <p:spPr>
          <a:xfrm>
            <a:off x="666750" y="542925"/>
            <a:ext cx="10858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The decision for the organization</a:t>
            </a: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3F0480D2-0381-40D6-B0D7-3A1182D901A3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rPr>
              <a:t>2 Director   /   8</a:t>
            </a:r>
          </a:p>
        </p:txBody>
      </p:sp>
      <p:sp>
        <p:nvSpPr>
          <p:cNvPr id="5" name="text-3">
            <a:extLst>
              <a:ext uri="{FF2B5EF4-FFF2-40B4-BE49-F238E27FC236}">
                <a16:creationId xmlns:a16="http://schemas.microsoft.com/office/drawing/2014/main" id="{44AEE017-5BF5-4AA7-BE4A-F09CA67D3665}"/>
              </a:ext>
            </a:extLst>
          </p:cNvPr>
          <p:cNvSpPr>
            <a:spLocks noGrp="1"/>
          </p:cNvSpPr>
          <p:nvPr/>
        </p:nvSpPr>
        <p:spPr>
          <a:xfrm>
            <a:off x="714375" y="1857375"/>
            <a:ext cx="10572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6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36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36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36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36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36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36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36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36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36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36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3600" b="1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Continue development under supervision</a:t>
            </a:r>
          </a:p>
        </p:txBody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A92F1D9A-7282-4720-9915-B4FB10AB8B55}"/>
              </a:ext>
            </a:extLst>
          </p:cNvPr>
          <p:cNvSpPr>
            <a:spLocks noGrp="1"/>
          </p:cNvSpPr>
          <p:nvPr/>
        </p:nvSpPr>
        <p:spPr>
          <a:xfrm>
            <a:off x="714375" y="3143250"/>
            <a:ext cx="10668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The neural network is the stronger candidate in this test.</a:t>
            </a:r>
          </a:p>
        </p:txBody>
      </p:sp>
      <p:sp>
        <p:nvSpPr>
          <p:cNvPr id="7" name="text-5">
            <a:extLst>
              <a:ext uri="{FF2B5EF4-FFF2-40B4-BE49-F238E27FC236}">
                <a16:creationId xmlns:a16="http://schemas.microsoft.com/office/drawing/2014/main" id="{95A51C18-038A-43F0-BA18-FF4E8EE32081}"/>
              </a:ext>
            </a:extLst>
          </p:cNvPr>
          <p:cNvSpPr>
            <a:spLocks noGrp="1"/>
          </p:cNvSpPr>
          <p:nvPr/>
        </p:nvSpPr>
        <p:spPr>
          <a:xfrm>
            <a:off x="714375" y="4095750"/>
            <a:ext cx="10668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The tree helps us audit the reasoning.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01F5529D-F34B-4E60-A8D5-FF0C1A904ACE}"/>
              </a:ext>
            </a:extLst>
          </p:cNvPr>
          <p:cNvSpPr>
            <a:spLocks noGrp="1"/>
          </p:cNvSpPr>
          <p:nvPr/>
        </p:nvSpPr>
        <p:spPr>
          <a:xfrm>
            <a:off x="714375" y="5048250"/>
            <a:ext cx="10668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Patient benefit and safe use still need direct evidence.</a:t>
            </a:r>
          </a:p>
        </p:txBody>
      </p:sp>
    </p:spTree>
    <p:extLst>
      <p:ext uri="{BB962C8B-B14F-4D97-AF65-F5344CB8AC3E}">
        <p14:creationId xmlns:p14="http://schemas.microsoft.com/office/powerpoint/2010/main" val="592317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>
            <a:extLst>
              <a:ext uri="{FF2B5EF4-FFF2-40B4-BE49-F238E27FC236}">
                <a16:creationId xmlns:a16="http://schemas.microsoft.com/office/drawing/2014/main" id="{B056E233-9AED-4BEA-9FC5-E4CBFB158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" name="content-background">
            <a:extLst>
              <a:ext uri="{FF2B5EF4-FFF2-40B4-BE49-F238E27FC236}">
                <a16:creationId xmlns:a16="http://schemas.microsoft.com/office/drawing/2014/main" id="{C4408604-B12E-44D2-B0C3-829884C77488}"/>
              </a:ext>
            </a:extLst>
          </p:cNvPr>
          <p:cNvSpPr>
            <a:spLocks noGrp="1"/>
          </p:cNvSpPr>
          <p:nvPr/>
        </p:nvSpPr>
        <p:spPr>
          <a:xfrm>
            <a:off x="333375" y="266700"/>
            <a:ext cx="11525250" cy="6324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3" name="text-1">
            <a:extLst>
              <a:ext uri="{FF2B5EF4-FFF2-40B4-BE49-F238E27FC236}">
                <a16:creationId xmlns:a16="http://schemas.microsoft.com/office/drawing/2014/main" id="{B03D0D46-8470-43CF-9C27-BE6DEB721E84}"/>
              </a:ext>
            </a:extLst>
          </p:cNvPr>
          <p:cNvSpPr>
            <a:spLocks noGrp="1"/>
          </p:cNvSpPr>
          <p:nvPr/>
        </p:nvSpPr>
        <p:spPr>
          <a:xfrm>
            <a:off x="666750" y="542925"/>
            <a:ext cx="10858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Q&amp;A: trust and business questions</a:t>
            </a: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BCB53CCE-6F1A-4B36-A4FA-5F7FB3254B2A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rPr>
              <a:t>Q&amp;A backup   /   9</a:t>
            </a:r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03088AE7-35E2-4CF7-AD3B-B1B96F8D5968}"/>
              </a:ext>
            </a:extLst>
          </p:cNvPr>
          <p:cNvGraphicFramePr/>
          <p:nvPr/>
        </p:nvGraphicFramePr>
        <p:xfrm>
          <a:off x="666750" y="1666875"/>
          <a:ext cx="10858500" cy="4000500"/>
        </p:xfrm>
        <a:graphic>
          <a:graphicData uri="http://schemas.openxmlformats.org/drawingml/2006/table">
            <a:tbl>
              <a:tblPr/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001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Question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>
                      <a:solidFill>
                        <a:srgbClr val="D5DEEF"/>
                      </a:solidFill>
                      <a:prstDash val="soli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3B5DA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Evidence-based answer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>
                      <a:solidFill>
                        <a:srgbClr val="D5DEEF"/>
                      </a:solidFill>
                      <a:prstDash val="soli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3B5D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Can we launch this for patients now?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Current evidence supports evaluation, not clinical deployment.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Will it reduce costs or prevent disease?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Neither outcome has been measured in this project.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Why choose the more complex model?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It has better observed test performance. We must still assess usability and safety.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7804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lede 8">
            <a:extLst>
              <a:ext uri="{FF2B5EF4-FFF2-40B4-BE49-F238E27FC236}">
                <a16:creationId xmlns:a16="http://schemas.microsoft.com/office/drawing/2014/main" id="{672E672C-EB2D-4128-ACBF-3DE2123EE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" name="content-background">
            <a:extLst>
              <a:ext uri="{FF2B5EF4-FFF2-40B4-BE49-F238E27FC236}">
                <a16:creationId xmlns:a16="http://schemas.microsoft.com/office/drawing/2014/main" id="{D5482297-BCEB-4C38-B90F-E06675A8488B}"/>
              </a:ext>
            </a:extLst>
          </p:cNvPr>
          <p:cNvSpPr>
            <a:spLocks noGrp="1"/>
          </p:cNvSpPr>
          <p:nvPr/>
        </p:nvSpPr>
        <p:spPr>
          <a:xfrm>
            <a:off x="333375" y="266700"/>
            <a:ext cx="11525250" cy="6324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3" name="text-1">
            <a:extLst>
              <a:ext uri="{FF2B5EF4-FFF2-40B4-BE49-F238E27FC236}">
                <a16:creationId xmlns:a16="http://schemas.microsoft.com/office/drawing/2014/main" id="{F976959E-E6A4-4B9D-83A6-D3DE203C19A1}"/>
              </a:ext>
            </a:extLst>
          </p:cNvPr>
          <p:cNvSpPr>
            <a:spLocks noGrp="1"/>
          </p:cNvSpPr>
          <p:nvPr/>
        </p:nvSpPr>
        <p:spPr>
          <a:xfrm>
            <a:off x="666750" y="542925"/>
            <a:ext cx="10858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Backup: original test evidence</a:t>
            </a: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B146D84C-F5DA-4492-AAE5-F316118E2F6C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rPr>
              <a:t>Q&amp;A backup   /   10</a:t>
            </a:r>
          </a:p>
        </p:txBody>
      </p:sp>
      <p:sp>
        <p:nvSpPr>
          <p:cNvPr id="5" name="text-3">
            <a:extLst>
              <a:ext uri="{FF2B5EF4-FFF2-40B4-BE49-F238E27FC236}">
                <a16:creationId xmlns:a16="http://schemas.microsoft.com/office/drawing/2014/main" id="{1469B2EA-AA37-45BD-B760-84852BD73B4F}"/>
              </a:ext>
            </a:extLst>
          </p:cNvPr>
          <p:cNvSpPr>
            <a:spLocks noGrp="1"/>
          </p:cNvSpPr>
          <p:nvPr/>
        </p:nvSpPr>
        <p:spPr>
          <a:xfrm>
            <a:off x="952500" y="1524000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Neural network</a:t>
            </a:r>
          </a:p>
        </p:txBody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3C5D3FC1-5A1C-40D2-8E8D-146591278129}"/>
              </a:ext>
            </a:extLst>
          </p:cNvPr>
          <p:cNvSpPr>
            <a:spLocks noGrp="1"/>
          </p:cNvSpPr>
          <p:nvPr/>
        </p:nvSpPr>
        <p:spPr>
          <a:xfrm>
            <a:off x="7048500" y="1524000"/>
            <a:ext cx="447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Decision tree</a:t>
            </a:r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2675F02F-F1C5-4B14-A3C3-9AFA589F89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41584" y="2047875"/>
            <a:ext cx="4289082" cy="3667125"/>
          </a:xfrm>
          <a:prstGeom prst="rect">
            <a:avLst/>
          </a:prstGeom>
        </p:spPr>
      </p:pic>
      <p:pic>
        <p:nvPicPr>
          <p:cNvPr id="8" name="Billede 7">
            <a:extLst>
              <a:ext uri="{FF2B5EF4-FFF2-40B4-BE49-F238E27FC236}">
                <a16:creationId xmlns:a16="http://schemas.microsoft.com/office/drawing/2014/main" id="{F05BCD8A-8913-43BA-969D-4FB4BEF2A6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761334" y="2047875"/>
            <a:ext cx="4289082" cy="366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89687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2999db3-9949-4bfb-ab4b-ba71da51ce2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466210FB7603644BA89CDF73087CF3B" ma:contentTypeVersion="5" ma:contentTypeDescription="Opret et nyt dokument." ma:contentTypeScope="" ma:versionID="1323a3375fe92b57b786736e493d92d1">
  <xsd:schema xmlns:xsd="http://www.w3.org/2001/XMLSchema" xmlns:xs="http://www.w3.org/2001/XMLSchema" xmlns:p="http://schemas.microsoft.com/office/2006/metadata/properties" xmlns:ns3="c2999db3-9949-4bfb-ab4b-ba71da51ce21" targetNamespace="http://schemas.microsoft.com/office/2006/metadata/properties" ma:root="true" ma:fieldsID="5df63117e32a976f3b1caea089d2857e" ns3:_="">
    <xsd:import namespace="c2999db3-9949-4bfb-ab4b-ba71da51ce21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999db3-9949-4bfb-ab4b-ba71da51ce21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BCC531D-A710-477F-BEBB-B8812C8DB6C0}">
  <ds:schemaRefs>
    <ds:schemaRef ds:uri="c2999db3-9949-4bfb-ab4b-ba71da51ce21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CB61ECBF-61B7-497B-959F-745E922F7E40}">
  <ds:schemaRefs>
    <ds:schemaRef ds:uri="c2999db3-9949-4bfb-ab4b-ba71da51ce2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85DAA97-6A1D-4E1E-804F-CC009B99E82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1438</Words>
  <Application>Microsoft Office PowerPoint</Application>
  <PresentationFormat>Widescreen</PresentationFormat>
  <Paragraphs>172</Paragraphs>
  <Slides>10</Slides>
  <Notes>10</Notes>
  <HiddenSlides>1</HiddenSlides>
  <MMClips>0</MMClips>
  <ScaleCrop>false</ScaleCrop>
  <HeadingPairs>
    <vt:vector size="6" baseType="variant">
      <vt:variant>
        <vt:lpstr>Benyttede skrifttyper</vt:lpstr>
      </vt:variant>
      <vt:variant>
        <vt:i4>2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10</vt:i4>
      </vt:variant>
    </vt:vector>
  </HeadingPairs>
  <TitlesOfParts>
    <vt:vector size="13" baseType="lpstr">
      <vt:lpstr>Aptos</vt:lpstr>
      <vt:lpstr>Nimbus Sans</vt:lpstr>
      <vt:lpstr>ChatGPT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Magnus Lau Ovesen</cp:lastModifiedBy>
  <cp:revision>1</cp:revision>
  <dcterms:created xsi:type="dcterms:W3CDTF">2026-10-19T10:17:04Z</dcterms:created>
  <dcterms:modified xsi:type="dcterms:W3CDTF">2026-10-19T13:18:39Z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0x010100B466210FB7603644BA89CDF73087CF3B</vt:lpwstr>
  </property>
</Properties>
</file>